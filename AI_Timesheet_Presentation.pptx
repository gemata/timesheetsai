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0" d="100"/>
          <a:sy n="80" d="100"/>
        </p:scale>
        <p:origin x="754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0624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023360"/>
            <a:ext cx="12191695" cy="20116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22960" y="822960"/>
            <a:ext cx="868680" cy="868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932688"/>
            <a:ext cx="86868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0">
                <a:solidFill>
                  <a:srgbClr val="4F46E5"/>
                </a:solidFill>
                <a:latin typeface="Segoe UI"/>
              </a:rPr>
              <a:t>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960120"/>
            <a:ext cx="822960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C7D2FE"/>
                </a:solidFill>
                <a:latin typeface="Segoe UI"/>
              </a:rPr>
              <a:t>HACKATHON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57400"/>
            <a:ext cx="10515600" cy="12801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Segoe UI Semibold"/>
              </a:rPr>
              <a:t>AI Timesheet &amp; Status Generator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154680"/>
            <a:ext cx="1024128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>
                <a:solidFill>
                  <a:srgbClr val="E0E7FF"/>
                </a:solidFill>
                <a:latin typeface="Segoe UI"/>
              </a:rPr>
              <a:t>Turn your Git history into ready-to-send standups, status updates &amp; timesheets.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17720"/>
            <a:ext cx="105156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475569"/>
                </a:solidFill>
                <a:latin typeface="Segoe UI"/>
              </a:rPr>
              <a:t>Built with Streamlit  +  Claude AI (two models)  +  Google Sheets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Presented by  </a:t>
            </a:r>
            <a:r>
              <a:rPr sz="1300" b="1">
                <a:solidFill>
                  <a:srgbClr val="4F46E5"/>
                </a:solidFill>
                <a:latin typeface="Segoe UI"/>
              </a:rPr>
              <a:t>bp55994@ubt-uni.net</a:t>
            </a:r>
            <a:r>
              <a:rPr sz="1300" b="0">
                <a:solidFill>
                  <a:srgbClr val="64748B"/>
                </a:solidFill>
                <a:latin typeface="Segoe UI"/>
              </a:rPr>
              <a:t>     •     July 2026</a:t>
            </a:r>
          </a:p>
        </p:txBody>
      </p:sp>
      <p:pic>
        <p:nvPicPr>
          <p:cNvPr id="12" name="Picture 11" descr="logo_acc4c7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310896"/>
            <a:ext cx="1417320" cy="51679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4F46E5"/>
                </a:solidFill>
                <a:latin typeface="Segoe U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0F172A"/>
                </a:solidFill>
                <a:latin typeface="Segoe UI Semibold"/>
              </a:rPr>
              <a:t>We keep rewriting what Git already knows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1005840" cy="444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1874519"/>
            <a:ext cx="6766560" cy="45262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500"/>
              </a:spcAft>
            </a:pPr>
            <a:r>
              <a:rPr sz="1200" dirty="0">
                <a:solidFill>
                  <a:srgbClr val="4F46E5"/>
                </a:solidFill>
                <a:latin typeface="Segoe UI"/>
              </a:rPr>
              <a:t>●  </a:t>
            </a:r>
            <a:r>
              <a:rPr sz="1800" b="1" dirty="0">
                <a:solidFill>
                  <a:srgbClr val="475569"/>
                </a:solidFill>
                <a:latin typeface="Segoe UI"/>
              </a:rPr>
              <a:t>Every developer answers the same question</a:t>
            </a:r>
            <a:r>
              <a:rPr sz="1800" dirty="0">
                <a:solidFill>
                  <a:srgbClr val="64748B"/>
                </a:solidFill>
                <a:latin typeface="Segoe UI"/>
              </a:rPr>
              <a:t>  —  “What did you work on?”</a:t>
            </a:r>
          </a:p>
          <a:p>
            <a:pPr>
              <a:lnSpc>
                <a:spcPct val="108000"/>
              </a:lnSpc>
              <a:spcAft>
                <a:spcPts val="1500"/>
              </a:spcAft>
            </a:pPr>
            <a:r>
              <a:rPr sz="1200">
                <a:solidFill>
                  <a:srgbClr val="4F46E5"/>
                </a:solidFill>
                <a:latin typeface="Segoe UI"/>
              </a:rPr>
              <a:t>●  </a:t>
            </a:r>
            <a:r>
              <a:rPr sz="1800" b="1">
                <a:solidFill>
                  <a:srgbClr val="475569"/>
                </a:solidFill>
                <a:latin typeface="Segoe UI"/>
              </a:rPr>
              <a:t>Standups, weekly status reports and timesheets</a:t>
            </a:r>
            <a:r>
              <a:rPr sz="1800">
                <a:solidFill>
                  <a:srgbClr val="64748B"/>
                </a:solidFill>
                <a:latin typeface="Segoe UI"/>
              </a:rPr>
              <a:t>  —  all ask for it, separately</a:t>
            </a:r>
          </a:p>
          <a:p>
            <a:pPr>
              <a:lnSpc>
                <a:spcPct val="108000"/>
              </a:lnSpc>
              <a:spcAft>
                <a:spcPts val="1500"/>
              </a:spcAft>
            </a:pPr>
            <a:r>
              <a:rPr sz="1200" dirty="0">
                <a:solidFill>
                  <a:srgbClr val="4F46E5"/>
                </a:solidFill>
                <a:latin typeface="Segoe UI"/>
              </a:rPr>
              <a:t>●  </a:t>
            </a:r>
            <a:r>
              <a:rPr sz="1800" b="1" dirty="0">
                <a:solidFill>
                  <a:srgbClr val="475569"/>
                </a:solidFill>
                <a:latin typeface="Segoe UI"/>
              </a:rPr>
              <a:t>We rebuild the answer by hand</a:t>
            </a:r>
            <a:r>
              <a:rPr sz="1800" dirty="0">
                <a:solidFill>
                  <a:srgbClr val="64748B"/>
                </a:solidFill>
                <a:latin typeface="Segoe UI"/>
              </a:rPr>
              <a:t>  —  hours or days later, guessing the details</a:t>
            </a:r>
          </a:p>
          <a:p>
            <a:pPr>
              <a:lnSpc>
                <a:spcPct val="108000"/>
              </a:lnSpc>
              <a:spcAft>
                <a:spcPts val="1500"/>
              </a:spcAft>
            </a:pPr>
            <a:r>
              <a:rPr sz="1200" dirty="0">
                <a:solidFill>
                  <a:srgbClr val="4F46E5"/>
                </a:solidFill>
                <a:latin typeface="Segoe UI"/>
              </a:rPr>
              <a:t>●  </a:t>
            </a:r>
            <a:r>
              <a:rPr sz="1800" b="1" dirty="0">
                <a:solidFill>
                  <a:srgbClr val="475569"/>
                </a:solidFill>
                <a:latin typeface="Segoe UI"/>
              </a:rPr>
              <a:t>The result</a:t>
            </a:r>
            <a:r>
              <a:rPr sz="1800" dirty="0">
                <a:solidFill>
                  <a:srgbClr val="64748B"/>
                </a:solidFill>
                <a:latin typeface="Segoe UI"/>
              </a:rPr>
              <a:t>  —  repetitive, error-prone, and it under-reports real effort</a:t>
            </a:r>
          </a:p>
          <a:p>
            <a:pPr>
              <a:lnSpc>
                <a:spcPct val="108000"/>
              </a:lnSpc>
              <a:spcAft>
                <a:spcPts val="1500"/>
              </a:spcAft>
            </a:pPr>
            <a:r>
              <a:rPr sz="1200" dirty="0">
                <a:solidFill>
                  <a:srgbClr val="4F46E5"/>
                </a:solidFill>
                <a:latin typeface="Segoe UI"/>
              </a:rPr>
              <a:t>●  </a:t>
            </a:r>
            <a:r>
              <a:rPr sz="1800" b="1" dirty="0">
                <a:solidFill>
                  <a:srgbClr val="475569"/>
                </a:solidFill>
                <a:latin typeface="Segoe UI"/>
              </a:rPr>
              <a:t>Nobody enjoys it</a:t>
            </a:r>
            <a:r>
              <a:rPr sz="1800" dirty="0">
                <a:solidFill>
                  <a:srgbClr val="64748B"/>
                </a:solidFill>
                <a:latin typeface="Segoe UI"/>
              </a:rPr>
              <a:t>  —  it’s the most disliked part of the routine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874519"/>
            <a:ext cx="36576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818120" y="1874519"/>
            <a:ext cx="109728" cy="19659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10728" y="2057399"/>
            <a:ext cx="3200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⏱  15–20 min / 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10728" y="2532887"/>
            <a:ext cx="320040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lost per developer on standup &amp; status writing — time that never touches real engineering.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18120" y="4069079"/>
            <a:ext cx="36576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818120" y="4069079"/>
            <a:ext cx="109728" cy="19659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10728" y="4251959"/>
            <a:ext cx="3200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❌  Low accuracy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10728" y="4727447"/>
            <a:ext cx="320040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written from memory, so effort is under-counted and reports drift out of sync with reality.</a:t>
            </a:r>
          </a:p>
        </p:txBody>
      </p:sp>
      <p:pic>
        <p:nvPicPr>
          <p:cNvPr id="16" name="Picture 15" descr="logo_b94f57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310896"/>
            <a:ext cx="1417320" cy="5167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Segoe UI"/>
              </a:rPr>
              <a:t>THE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0F172A"/>
                </a:solidFill>
                <a:latin typeface="Segoe UI Semibold"/>
              </a:rPr>
              <a:t>The answer already exists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100584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1874519"/>
            <a:ext cx="1078992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The work is already recorded — in your Git history.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971799"/>
            <a:ext cx="260604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" y="3227831"/>
            <a:ext cx="260604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>
                <a:solidFill>
                  <a:srgbClr val="2563EB"/>
                </a:solidFill>
                <a:latin typeface="Segoe UI"/>
              </a:rPr>
              <a:t>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867911"/>
            <a:ext cx="26060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Segoe UI Semibold"/>
              </a:rPr>
              <a:t>Commits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251959"/>
            <a:ext cx="26060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what you did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93008" y="2971799"/>
            <a:ext cx="260604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93008" y="3227831"/>
            <a:ext cx="260604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>
                <a:solidFill>
                  <a:srgbClr val="2563EB"/>
                </a:solidFill>
                <a:latin typeface="Segoe UI"/>
              </a:rPr>
              <a:t>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93008" y="3867911"/>
            <a:ext cx="26060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Segoe UI Semibold"/>
              </a:rPr>
              <a:t>Timestamps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4251959"/>
            <a:ext cx="26060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when &amp; how long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7648" y="2971799"/>
            <a:ext cx="260604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27648" y="3227831"/>
            <a:ext cx="260604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>
                <a:solidFill>
                  <a:srgbClr val="2563EB"/>
                </a:solidFill>
                <a:latin typeface="Segoe UI"/>
              </a:rPr>
              <a:t>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27648" y="3867911"/>
            <a:ext cx="26060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Segoe UI Semibold"/>
              </a:rPr>
              <a:t>Branches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27648" y="4251959"/>
            <a:ext cx="26060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the feature / context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62288" y="2971799"/>
            <a:ext cx="260604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62288" y="3227831"/>
            <a:ext cx="260604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>
                <a:solidFill>
                  <a:srgbClr val="2563EB"/>
                </a:solidFill>
                <a:latin typeface="Segoe UI"/>
              </a:rPr>
              <a:t>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2288" y="3867911"/>
            <a:ext cx="26060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Segoe UI Semibold"/>
              </a:rPr>
              <a:t>Ticket refs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62288" y="4251959"/>
            <a:ext cx="26060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which project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5120639"/>
            <a:ext cx="10835640" cy="114300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8368" y="5413247"/>
            <a:ext cx="1083564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Stop writing status updates.  Generate them.</a:t>
            </a:r>
          </a:p>
        </p:txBody>
      </p:sp>
      <p:pic>
        <p:nvPicPr>
          <p:cNvPr id="26" name="Picture 25" descr="logo_b94f57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310896"/>
            <a:ext cx="1417320" cy="5167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4F46E5"/>
                </a:solidFill>
                <a:latin typeface="Segoe UI"/>
              </a:rPr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0F172A"/>
                </a:solidFill>
                <a:latin typeface="Segoe UI Semibold"/>
              </a:rPr>
              <a:t>An AI tool that drafts your reports for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1005840" cy="444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1874519"/>
            <a:ext cx="1078992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475569"/>
                </a:solidFill>
                <a:latin typeface="Segoe UI"/>
              </a:rPr>
              <a:t>It reads your Git activity and writes clean, accurate drafts you lightly edit — not a blank box.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743199"/>
            <a:ext cx="352044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2743199"/>
            <a:ext cx="109728" cy="2286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2926079"/>
            <a:ext cx="30632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Segoe UI Semibold"/>
              </a:rPr>
              <a:t>🗣  Standup notes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401567"/>
            <a:ext cx="3063240" cy="1508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Segoe UI"/>
              </a:rPr>
              <a:t>A short bullet list of what you worked on — ready to paste into the daily standup.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743199"/>
            <a:ext cx="352044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43400" y="2743199"/>
            <a:ext cx="109728" cy="2286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36008" y="2926079"/>
            <a:ext cx="30632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Segoe UI Semibold"/>
              </a:rPr>
              <a:t>📄  Weekly status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3401567"/>
            <a:ext cx="3063240" cy="1508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Segoe UI"/>
              </a:rPr>
              <a:t>A narrative summary of the week plus likely blockers, written automatically.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31" y="2743199"/>
            <a:ext cx="352044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28431" y="2743199"/>
            <a:ext cx="109728" cy="228600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39" y="2926079"/>
            <a:ext cx="30632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Segoe UI Semibold"/>
              </a:rPr>
              <a:t>🧾  Timesheet entries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39" y="3401567"/>
            <a:ext cx="3063240" cy="1508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Segoe UI"/>
              </a:rPr>
              <a:t>One row per commit with realistic hours and a status — grouped by author &amp; day.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303519"/>
            <a:ext cx="1078992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F172A"/>
                </a:solidFill>
                <a:latin typeface="Segoe UI"/>
              </a:rPr>
              <a:t>Plus:  </a:t>
            </a:r>
            <a:r>
              <a:rPr sz="1700" b="0">
                <a:solidFill>
                  <a:srgbClr val="475569"/>
                </a:solidFill>
                <a:latin typeface="Segoe UI"/>
              </a:rPr>
              <a:t>ask questions about your own work in plain English (“What did I do this week?”).</a:t>
            </a:r>
          </a:p>
        </p:txBody>
      </p:sp>
      <p:pic>
        <p:nvPicPr>
          <p:cNvPr id="21" name="Picture 20" descr="logo_b94f57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310896"/>
            <a:ext cx="1417320" cy="5167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Segoe UI"/>
              </a:rPr>
              <a:t>HOW IT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0F172A"/>
                </a:solidFill>
                <a:latin typeface="Segoe UI Semibold"/>
              </a:rPr>
              <a:t>From commits to reports in four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100584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95147" y="2331719"/>
            <a:ext cx="2423160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95147" y="2331719"/>
            <a:ext cx="242316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95147" y="2624327"/>
            <a:ext cx="242316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0">
                <a:solidFill>
                  <a:srgbClr val="4F46E5"/>
                </a:solidFill>
                <a:latin typeface="Segoe UI"/>
              </a:rPr>
              <a:t>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5147" y="3291839"/>
            <a:ext cx="24231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Segoe UI Semibold"/>
              </a:rPr>
              <a:t>Git 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147" y="3657599"/>
            <a:ext cx="2423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Segoe UI"/>
              </a:rPr>
              <a:t>read commits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147" y="3950207"/>
            <a:ext cx="2423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Segoe UI"/>
              </a:rPr>
              <a:t>+ timestamps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973171" y="3172967"/>
            <a:ext cx="393192" cy="329184"/>
          </a:xfrm>
          <a:prstGeom prst="rightArrow">
            <a:avLst/>
          </a:prstGeom>
          <a:solidFill>
            <a:srgbClr val="B9C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21227" y="2331719"/>
            <a:ext cx="2423160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421227" y="2331719"/>
            <a:ext cx="2423160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21227" y="2624327"/>
            <a:ext cx="242316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0">
                <a:solidFill>
                  <a:srgbClr val="2563EB"/>
                </a:solidFill>
                <a:latin typeface="Segoe UI"/>
              </a:rPr>
              <a:t>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1227" y="3291839"/>
            <a:ext cx="24231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Segoe UI Semibold"/>
              </a:rPr>
              <a:t>AI Model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1227" y="3657599"/>
            <a:ext cx="2423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Segoe UI"/>
              </a:rPr>
              <a:t>clean up text,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1227" y="3950207"/>
            <a:ext cx="2423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Segoe UI"/>
              </a:rPr>
              <a:t>infer status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899251" y="3172967"/>
            <a:ext cx="393192" cy="329184"/>
          </a:xfrm>
          <a:prstGeom prst="rightArrow">
            <a:avLst/>
          </a:prstGeom>
          <a:solidFill>
            <a:srgbClr val="B9C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347307" y="2331719"/>
            <a:ext cx="2423160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347307" y="2331719"/>
            <a:ext cx="2423160" cy="109728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47307" y="2624327"/>
            <a:ext cx="242316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0">
                <a:solidFill>
                  <a:srgbClr val="15803D"/>
                </a:solidFill>
                <a:latin typeface="Segoe UI"/>
              </a:rPr>
              <a:t>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7307" y="3291839"/>
            <a:ext cx="24231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Segoe UI Semibold"/>
              </a:rPr>
              <a:t>Google Sheets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7307" y="3657599"/>
            <a:ext cx="2423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Segoe UI"/>
              </a:rPr>
              <a:t>store as the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47307" y="3950207"/>
            <a:ext cx="2423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Segoe UI"/>
              </a:rPr>
              <a:t>database / API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825331" y="3172967"/>
            <a:ext cx="393192" cy="329184"/>
          </a:xfrm>
          <a:prstGeom prst="rightArrow">
            <a:avLst/>
          </a:prstGeom>
          <a:solidFill>
            <a:srgbClr val="B9C2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273387" y="2331719"/>
            <a:ext cx="2423160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273387" y="2331719"/>
            <a:ext cx="2423160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273387" y="2624327"/>
            <a:ext cx="242316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0">
                <a:solidFill>
                  <a:srgbClr val="4F46E5"/>
                </a:solidFill>
                <a:latin typeface="Segoe UI"/>
              </a:rPr>
              <a:t>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73387" y="3291839"/>
            <a:ext cx="24231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Segoe UI Semibold"/>
              </a:rPr>
              <a:t>AI Model 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73387" y="3657599"/>
            <a:ext cx="2423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Segoe UI"/>
              </a:rPr>
              <a:t>chat &amp; answer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73387" y="3950207"/>
            <a:ext cx="242316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64748B"/>
                </a:solidFill>
                <a:latin typeface="Segoe UI"/>
              </a:rPr>
              <a:t>questions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4846319"/>
            <a:ext cx="1088136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You control the loop:  </a:t>
            </a:r>
            <a:r>
              <a:rPr sz="1600" b="0">
                <a:solidFill>
                  <a:srgbClr val="475569"/>
                </a:solidFill>
                <a:latin typeface="Segoe UI"/>
              </a:rPr>
              <a:t>pick a date range and repo → the app generates → you review &amp; edit the table → export to Google Sheets → ask the AI anything about it.</a:t>
            </a:r>
          </a:p>
        </p:txBody>
      </p:sp>
      <p:pic>
        <p:nvPicPr>
          <p:cNvPr id="35" name="Picture 34" descr="logo_b94f57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310896"/>
            <a:ext cx="1417320" cy="5167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4F46E5"/>
                </a:solidFill>
                <a:latin typeface="Segoe UI"/>
              </a:rPr>
              <a:t>UNDER THE HOOD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0F172A"/>
                </a:solidFill>
                <a:latin typeface="Segoe UI Semibold"/>
              </a:rPr>
              <a:t>The two-model AI approach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1005840" cy="444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1874519"/>
            <a:ext cx="1078992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475569"/>
                </a:solidFill>
                <a:latin typeface="Segoe UI"/>
              </a:rPr>
              <a:t>Two models, each doing the job it is best at — fast &amp; cheap for bulk work, smart for reasoning.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788919"/>
            <a:ext cx="525780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2788919"/>
            <a:ext cx="5257800" cy="685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935223"/>
            <a:ext cx="484632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 Semibold"/>
              </a:rPr>
              <a:t>Model 1 — Fast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657599"/>
            <a:ext cx="47548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2563EB"/>
                </a:solidFill>
                <a:latin typeface="Segoe UI"/>
              </a:rPr>
              <a:t>Claude Haiku 4.5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14799"/>
            <a:ext cx="4754880" cy="2286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800">
                <a:solidFill>
                  <a:srgbClr val="2563EB"/>
                </a:solidFill>
                <a:latin typeface="Segoe UI"/>
              </a:rPr>
              <a:t>●  </a:t>
            </a:r>
            <a:r>
              <a:rPr sz="1400" b="1">
                <a:solidFill>
                  <a:srgbClr val="475569"/>
                </a:solidFill>
                <a:latin typeface="Segoe UI"/>
              </a:rPr>
              <a:t>Cleans up every commit message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800">
                <a:solidFill>
                  <a:srgbClr val="2563EB"/>
                </a:solidFill>
                <a:latin typeface="Segoe UI"/>
              </a:rPr>
              <a:t>●  </a:t>
            </a:r>
            <a:r>
              <a:rPr sz="1400" b="1">
                <a:solidFill>
                  <a:srgbClr val="475569"/>
                </a:solidFill>
                <a:latin typeface="Segoe UI"/>
              </a:rPr>
              <a:t>Infers a status (Completed / In Progress)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800">
                <a:solidFill>
                  <a:srgbClr val="2563EB"/>
                </a:solidFill>
                <a:latin typeface="Segoe UI"/>
              </a:rPr>
              <a:t>●  </a:t>
            </a:r>
            <a:r>
              <a:rPr sz="1400" b="1">
                <a:solidFill>
                  <a:srgbClr val="475569"/>
                </a:solidFill>
                <a:latin typeface="Segoe UI"/>
              </a:rPr>
              <a:t>Writes the weekly standup + blockers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6208" y="2788919"/>
            <a:ext cx="5257800" cy="2743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36208" y="2788919"/>
            <a:ext cx="5257800" cy="6858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92240" y="2935223"/>
            <a:ext cx="484632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Segoe UI Semibold"/>
              </a:rPr>
              <a:t>Model 2 — Smart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657599"/>
            <a:ext cx="47548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4F46E5"/>
                </a:solidFill>
                <a:latin typeface="Segoe UI"/>
              </a:rPr>
              <a:t>Claude Sonnet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114799"/>
            <a:ext cx="4754880" cy="2286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800">
                <a:solidFill>
                  <a:srgbClr val="4F46E5"/>
                </a:solidFill>
                <a:latin typeface="Segoe UI"/>
              </a:rPr>
              <a:t>●  </a:t>
            </a:r>
            <a:r>
              <a:rPr sz="1400" b="1">
                <a:solidFill>
                  <a:srgbClr val="475569"/>
                </a:solidFill>
                <a:latin typeface="Segoe UI"/>
              </a:rPr>
              <a:t>Conversational Q&amp;A over your data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800">
                <a:solidFill>
                  <a:srgbClr val="4F46E5"/>
                </a:solidFill>
                <a:latin typeface="Segoe UI"/>
              </a:rPr>
              <a:t>●  </a:t>
            </a:r>
            <a:r>
              <a:rPr sz="1400" b="1">
                <a:solidFill>
                  <a:srgbClr val="475569"/>
                </a:solidFill>
                <a:latin typeface="Segoe UI"/>
              </a:rPr>
              <a:t>Billing math using the rate card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800">
                <a:solidFill>
                  <a:srgbClr val="4F46E5"/>
                </a:solidFill>
                <a:latin typeface="Segoe UI"/>
              </a:rPr>
              <a:t>●  </a:t>
            </a:r>
            <a:r>
              <a:rPr sz="1400" b="1">
                <a:solidFill>
                  <a:srgbClr val="475569"/>
                </a:solidFill>
                <a:latin typeface="Segoe UI"/>
              </a:rPr>
              <a:t>Accurate, grounded answers (no guessing)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5806439"/>
            <a:ext cx="1088136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Why split it?  </a:t>
            </a:r>
            <a:r>
              <a:rPr sz="1600" b="0">
                <a:solidFill>
                  <a:srgbClr val="64748B"/>
                </a:solidFill>
                <a:latin typeface="Segoe UI"/>
              </a:rPr>
              <a:t>You pay pennies for the heavy lifting and get top-tier reasoning only where it matters.</a:t>
            </a:r>
          </a:p>
        </p:txBody>
      </p:sp>
      <p:pic>
        <p:nvPicPr>
          <p:cNvPr id="19" name="Picture 18" descr="logo_b94f57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310896"/>
            <a:ext cx="1417320" cy="5167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5803D"/>
                </a:solidFill>
                <a:latin typeface="Segoe UI"/>
              </a:rPr>
              <a:t>ACCURACY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0F172A"/>
                </a:solidFill>
                <a:latin typeface="Segoe UI Semibold"/>
              </a:rPr>
              <a:t>Hours you can trust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1005840" cy="4445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1874519"/>
            <a:ext cx="1078992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1">
                <a:solidFill>
                  <a:srgbClr val="0F172A"/>
                </a:solidFill>
                <a:latin typeface="Segoe UI Semibold"/>
              </a:rPr>
              <a:t>Hours are calculated from real commit timestamps — not guessed by the AI.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697479"/>
            <a:ext cx="6949440" cy="3703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100">
                <a:solidFill>
                  <a:srgbClr val="15803D"/>
                </a:solidFill>
                <a:latin typeface="Segoe UI"/>
              </a:rPr>
              <a:t>●  </a:t>
            </a:r>
            <a:r>
              <a:rPr sz="1700" b="1">
                <a:solidFill>
                  <a:srgbClr val="475569"/>
                </a:solidFill>
                <a:latin typeface="Segoe UI"/>
              </a:rPr>
              <a:t>Grouped by author, per day</a:t>
            </a:r>
            <a:r>
              <a:rPr sz="1700">
                <a:solidFill>
                  <a:srgbClr val="64748B"/>
                </a:solidFill>
                <a:latin typeface="Segoe UI"/>
              </a:rPr>
              <a:t>  —  then sorted by commit time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100">
                <a:solidFill>
                  <a:srgbClr val="15803D"/>
                </a:solidFill>
                <a:latin typeface="Segoe UI"/>
              </a:rPr>
              <a:t>●  </a:t>
            </a:r>
            <a:r>
              <a:rPr sz="1700" b="1">
                <a:solidFill>
                  <a:srgbClr val="475569"/>
                </a:solidFill>
                <a:latin typeface="Segoe UI"/>
              </a:rPr>
              <a:t>Time between two commits</a:t>
            </a:r>
            <a:r>
              <a:rPr sz="1700">
                <a:solidFill>
                  <a:srgbClr val="64748B"/>
                </a:solidFill>
                <a:latin typeface="Segoe UI"/>
              </a:rPr>
              <a:t>  —  counts as time worked on that task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100">
                <a:solidFill>
                  <a:srgbClr val="15803D"/>
                </a:solidFill>
                <a:latin typeface="Segoe UI"/>
              </a:rPr>
              <a:t>●  </a:t>
            </a:r>
            <a:r>
              <a:rPr sz="1700" b="1">
                <a:solidFill>
                  <a:srgbClr val="475569"/>
                </a:solidFill>
                <a:latin typeface="Segoe UI"/>
              </a:rPr>
              <a:t>First commit of the day</a:t>
            </a:r>
            <a:r>
              <a:rPr sz="1700">
                <a:solidFill>
                  <a:srgbClr val="64748B"/>
                </a:solidFill>
                <a:latin typeface="Segoe UI"/>
              </a:rPr>
              <a:t>  —  gets a 1-hour “warm-up” credit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100">
                <a:solidFill>
                  <a:srgbClr val="15803D"/>
                </a:solidFill>
                <a:latin typeface="Segoe UI"/>
              </a:rPr>
              <a:t>●  </a:t>
            </a:r>
            <a:r>
              <a:rPr sz="1700" b="1">
                <a:solidFill>
                  <a:srgbClr val="475569"/>
                </a:solidFill>
                <a:latin typeface="Segoe UI"/>
              </a:rPr>
              <a:t>A gap longer than 4 hours</a:t>
            </a:r>
            <a:r>
              <a:rPr sz="1700">
                <a:solidFill>
                  <a:srgbClr val="64748B"/>
                </a:solidFill>
                <a:latin typeface="Segoe UI"/>
              </a:rPr>
              <a:t>  —  is treated as a break, not work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100">
                <a:solidFill>
                  <a:srgbClr val="15803D"/>
                </a:solidFill>
                <a:latin typeface="Segoe UI"/>
              </a:rPr>
              <a:t>●  </a:t>
            </a:r>
            <a:r>
              <a:rPr sz="1700" b="1">
                <a:solidFill>
                  <a:srgbClr val="475569"/>
                </a:solidFill>
                <a:latin typeface="Segoe UI"/>
              </a:rPr>
              <a:t>Each day is capped</a:t>
            </a:r>
            <a:r>
              <a:rPr sz="1700">
                <a:solidFill>
                  <a:srgbClr val="64748B"/>
                </a:solidFill>
                <a:latin typeface="Segoe UI"/>
              </a:rPr>
              <a:t>  —  by your “max hours per day” rule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18120" y="2697479"/>
            <a:ext cx="3657600" cy="3291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818120" y="2697479"/>
            <a:ext cx="109728" cy="329184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10728" y="2880359"/>
            <a:ext cx="32004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F172A"/>
                </a:solidFill>
                <a:latin typeface="Segoe UI Semibold"/>
              </a:rPr>
              <a:t>Example — one 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10728" y="3355847"/>
            <a:ext cx="3200400" cy="25146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10728" y="3474719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64748B"/>
                </a:solidFill>
                <a:latin typeface="Segoe UI"/>
              </a:rPr>
              <a:t>09:14  first commit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69880" y="3474719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475569"/>
                </a:solidFill>
                <a:latin typeface="Segoe UI"/>
              </a:rPr>
              <a:t>1.0 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10728" y="4023359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64748B"/>
                </a:solidFill>
                <a:latin typeface="Segoe UI"/>
              </a:rPr>
              <a:t>11:02  next commit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4023359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475569"/>
                </a:solidFill>
                <a:latin typeface="Segoe UI"/>
              </a:rPr>
              <a:t>1.8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10728" y="4571999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64748B"/>
                </a:solidFill>
                <a:latin typeface="Segoe UI"/>
              </a:rPr>
              <a:t>17:40  after a long gap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69880" y="4571999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475569"/>
                </a:solidFill>
                <a:latin typeface="Segoe UI"/>
              </a:rPr>
              <a:t>4.0 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10728" y="5120639"/>
            <a:ext cx="246888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Day total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69880" y="5120639"/>
            <a:ext cx="8229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5803D"/>
                </a:solidFill>
                <a:latin typeface="Segoe UI"/>
              </a:rPr>
              <a:t>6.8 h</a:t>
            </a:r>
          </a:p>
        </p:txBody>
      </p:sp>
      <p:pic>
        <p:nvPicPr>
          <p:cNvPr id="21" name="Picture 20" descr="logo_b94f57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310896"/>
            <a:ext cx="1417320" cy="5167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4F46E5"/>
                </a:solidFill>
                <a:latin typeface="Segoe UI"/>
              </a:rPr>
              <a:t>THE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0F172A"/>
                </a:solidFill>
                <a:latin typeface="Segoe UI Semibold"/>
              </a:rPr>
              <a:t>Google Sheets is the database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1005840" cy="444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1874519"/>
            <a:ext cx="1078992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Segoe UI"/>
              </a:rPr>
              <a:t>No backend server to run — one shared Google Sheet is both the database and the API.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468879"/>
            <a:ext cx="35204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2468879"/>
            <a:ext cx="109728" cy="196596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50976" y="2651759"/>
            <a:ext cx="30632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F172A"/>
                </a:solidFill>
                <a:latin typeface="Segoe UI Semibold"/>
              </a:rPr>
              <a:t>📋  Raw_Entries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127247"/>
            <a:ext cx="306324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64748B"/>
                </a:solidFill>
                <a:latin typeface="Segoe UI"/>
              </a:rPr>
              <a:t>One row per commit: Date + time, Author, Summary, Hours, Status.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468879"/>
            <a:ext cx="35204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43400" y="2468879"/>
            <a:ext cx="109728" cy="19659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36008" y="2651759"/>
            <a:ext cx="30632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F172A"/>
                </a:solidFill>
                <a:latin typeface="Segoe UI Semibold"/>
              </a:rPr>
              <a:t>📈  Dashboard_Summary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3127247"/>
            <a:ext cx="306324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64748B"/>
                </a:solidFill>
                <a:latin typeface="Segoe UI"/>
              </a:rPr>
              <a:t>One row per week: total hours, top author, AI standup, blockers.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31" y="2468879"/>
            <a:ext cx="35204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28431" y="2468879"/>
            <a:ext cx="109728" cy="196596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21039" y="2651759"/>
            <a:ext cx="30632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F172A"/>
                </a:solidFill>
                <a:latin typeface="Segoe UI Semibold"/>
              </a:rPr>
              <a:t>💰  Rates_Config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39" y="3127247"/>
            <a:ext cx="3063240" cy="11887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64748B"/>
                </a:solidFill>
                <a:latin typeface="Segoe UI"/>
              </a:rPr>
              <a:t>Hourly rate per author (Author, Client, Rate) — used for billing.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617719"/>
            <a:ext cx="10835640" cy="1600200"/>
          </a:xfrm>
          <a:prstGeom prst="roundRect">
            <a:avLst/>
          </a:prstGeom>
          <a:solidFill>
            <a:srgbClr val="F6F8FC"/>
          </a:solidFill>
          <a:ln w="19050">
            <a:solidFill>
              <a:srgbClr val="A7B1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8368" y="4850891"/>
            <a:ext cx="1083564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0">
                <a:solidFill>
                  <a:srgbClr val="64748B"/>
                </a:solidFill>
                <a:latin typeface="Segoe UI"/>
              </a:rPr>
              <a:t>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436107"/>
            <a:ext cx="10835640" cy="5029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Segoe UI Semibold"/>
              </a:rPr>
              <a:t>Screenshot 2 — The Google Sheet (online, 3 tabs)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5833871"/>
            <a:ext cx="1083564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paste screenshot here</a:t>
            </a:r>
          </a:p>
        </p:txBody>
      </p:sp>
      <p:pic>
        <p:nvPicPr>
          <p:cNvPr id="24" name="Picture 23" descr="logo_b94f57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310896"/>
            <a:ext cx="1417320" cy="5167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Segoe UI"/>
              </a:rPr>
              <a:t>THE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0F172A"/>
                </a:solidFill>
                <a:latin typeface="Segoe UI Semibold"/>
              </a:rPr>
              <a:t>Generate, review &amp; export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100584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1920239"/>
            <a:ext cx="5852160" cy="44805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050">
                <a:solidFill>
                  <a:srgbClr val="2563EB"/>
                </a:solidFill>
                <a:latin typeface="Segoe UI"/>
              </a:rPr>
              <a:t>●  </a:t>
            </a:r>
            <a:r>
              <a:rPr sz="1650" b="1">
                <a:solidFill>
                  <a:srgbClr val="475569"/>
                </a:solidFill>
                <a:latin typeface="Segoe UI"/>
              </a:rPr>
              <a:t>One click to generate</a:t>
            </a:r>
            <a:r>
              <a:rPr sz="1650">
                <a:solidFill>
                  <a:srgbClr val="64748B"/>
                </a:solidFill>
                <a:latin typeface="Segoe UI"/>
              </a:rPr>
              <a:t>  —  commits for the last 7–90 days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050">
                <a:solidFill>
                  <a:srgbClr val="2563EB"/>
                </a:solidFill>
                <a:latin typeface="Segoe UI"/>
              </a:rPr>
              <a:t>●  </a:t>
            </a:r>
            <a:r>
              <a:rPr sz="1650" b="1">
                <a:solidFill>
                  <a:srgbClr val="475569"/>
                </a:solidFill>
                <a:latin typeface="Segoe UI"/>
              </a:rPr>
              <a:t>Live stat cards</a:t>
            </a:r>
            <a:r>
              <a:rPr sz="1650">
                <a:solidFill>
                  <a:srgbClr val="64748B"/>
                </a:solidFill>
                <a:latin typeface="Segoe UI"/>
              </a:rPr>
              <a:t>  —  commits, hours, completion %, contributors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050">
                <a:solidFill>
                  <a:srgbClr val="2563EB"/>
                </a:solidFill>
                <a:latin typeface="Segoe UI"/>
              </a:rPr>
              <a:t>●  </a:t>
            </a:r>
            <a:r>
              <a:rPr sz="1650" b="1">
                <a:solidFill>
                  <a:srgbClr val="475569"/>
                </a:solidFill>
                <a:latin typeface="Segoe UI"/>
              </a:rPr>
              <a:t>Editable, spreadsheet-style table</a:t>
            </a:r>
            <a:r>
              <a:rPr sz="1650">
                <a:solidFill>
                  <a:srgbClr val="64748B"/>
                </a:solidFill>
                <a:latin typeface="Segoe UI"/>
              </a:rPr>
              <a:t>  —  fix hours, change status, delete rows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050">
                <a:solidFill>
                  <a:srgbClr val="2563EB"/>
                </a:solidFill>
                <a:latin typeface="Segoe UI"/>
              </a:rPr>
              <a:t>●  </a:t>
            </a:r>
            <a:r>
              <a:rPr sz="1650" b="1">
                <a:solidFill>
                  <a:srgbClr val="475569"/>
                </a:solidFill>
                <a:latin typeface="Segoe UI"/>
              </a:rPr>
              <a:t>Business rules</a:t>
            </a:r>
            <a:r>
              <a:rPr sz="1650">
                <a:solidFill>
                  <a:srgbClr val="64748B"/>
                </a:solidFill>
                <a:latin typeface="Segoe UI"/>
              </a:rPr>
              <a:t>  —  cap hours/day, weekends, flag short days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050">
                <a:solidFill>
                  <a:srgbClr val="2563EB"/>
                </a:solidFill>
                <a:latin typeface="Segoe UI"/>
              </a:rPr>
              <a:t>●  </a:t>
            </a:r>
            <a:r>
              <a:rPr sz="1650" b="1">
                <a:solidFill>
                  <a:srgbClr val="475569"/>
                </a:solidFill>
                <a:latin typeface="Segoe UI"/>
              </a:rPr>
              <a:t>Author dropdown</a:t>
            </a:r>
            <a:r>
              <a:rPr sz="1650">
                <a:solidFill>
                  <a:srgbClr val="64748B"/>
                </a:solidFill>
                <a:latin typeface="Segoe UI"/>
              </a:rPr>
              <a:t>  —  auto-filled from the repo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050">
                <a:solidFill>
                  <a:srgbClr val="2563EB"/>
                </a:solidFill>
                <a:latin typeface="Segoe UI"/>
              </a:rPr>
              <a:t>●  </a:t>
            </a:r>
            <a:r>
              <a:rPr sz="1650" b="1">
                <a:solidFill>
                  <a:srgbClr val="475569"/>
                </a:solidFill>
                <a:latin typeface="Segoe UI"/>
              </a:rPr>
              <a:t>Export to Google Sheets</a:t>
            </a:r>
            <a:r>
              <a:rPr sz="1650">
                <a:solidFill>
                  <a:srgbClr val="64748B"/>
                </a:solidFill>
                <a:latin typeface="Segoe UI"/>
              </a:rPr>
              <a:t>  —  styled, one click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1874519"/>
            <a:ext cx="4754880" cy="4023360"/>
          </a:xfrm>
          <a:prstGeom prst="roundRect">
            <a:avLst/>
          </a:prstGeom>
          <a:solidFill>
            <a:srgbClr val="F6F8FC"/>
          </a:solidFill>
          <a:ln w="19050">
            <a:solidFill>
              <a:srgbClr val="A7B1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766560" y="3319271"/>
            <a:ext cx="475488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0">
                <a:solidFill>
                  <a:srgbClr val="64748B"/>
                </a:solidFill>
                <a:latin typeface="Segoe UI"/>
              </a:rPr>
              <a:t>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3904487"/>
            <a:ext cx="4754880" cy="5029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Segoe UI Semibold"/>
              </a:rPr>
              <a:t>Screenshot 1 — Main app page (Generator)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5513831"/>
            <a:ext cx="475488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paste screenshot here</a:t>
            </a:r>
          </a:p>
        </p:txBody>
      </p:sp>
      <p:pic>
        <p:nvPicPr>
          <p:cNvPr id="12" name="Picture 11" descr="logo_b94f57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310896"/>
            <a:ext cx="1417320" cy="5167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4F46E5"/>
                </a:solidFill>
                <a:latin typeface="Segoe UI"/>
              </a:rPr>
              <a:t>THE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0F172A"/>
                </a:solidFill>
                <a:latin typeface="Segoe UI Semibold"/>
              </a:rPr>
              <a:t>Ask the data — in plain English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1005840" cy="444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1874519"/>
            <a:ext cx="1078992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475569"/>
                </a:solidFill>
                <a:latin typeface="Segoe UI"/>
              </a:rPr>
              <a:t>Chat with your timesheet. Answers are grounded in your real data — accurate, not made up.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514599"/>
            <a:ext cx="585216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2624327"/>
            <a:ext cx="548640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0F172A"/>
                </a:solidFill>
                <a:latin typeface="Segoe UI"/>
              </a:rPr>
              <a:t>“What was my most recent commit?”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227831"/>
            <a:ext cx="585216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3337559"/>
            <a:ext cx="548640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0F172A"/>
                </a:solidFill>
                <a:latin typeface="Segoe UI"/>
              </a:rPr>
              <a:t>“Who worked the most hours this week?”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3941063"/>
            <a:ext cx="585216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4050791"/>
            <a:ext cx="548640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0F172A"/>
                </a:solidFill>
                <a:latin typeface="Segoe UI"/>
              </a:rPr>
              <a:t>“How much do we bill Acme Corp?”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654295"/>
            <a:ext cx="5852160" cy="5852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" y="4764023"/>
            <a:ext cx="5486400" cy="4114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>
                <a:solidFill>
                  <a:srgbClr val="0F172A"/>
                </a:solidFill>
                <a:latin typeface="Segoe UI"/>
              </a:rPr>
              <a:t>“Summarize what I did this week.”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5486399"/>
            <a:ext cx="585216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>
                <a:solidFill>
                  <a:srgbClr val="0F172A"/>
                </a:solidFill>
                <a:latin typeface="Segoe UI"/>
              </a:rPr>
              <a:t>Why it’s accurate:  </a:t>
            </a:r>
            <a:r>
              <a:rPr sz="1350" b="0">
                <a:solidFill>
                  <a:srgbClr val="64748B"/>
                </a:solidFill>
                <a:latin typeface="Segoe UI"/>
              </a:rPr>
              <a:t>data is fed newest-first with clear date rules and filtered by author, so “latest” means latest.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766560" y="2514599"/>
            <a:ext cx="4754880" cy="3566160"/>
          </a:xfrm>
          <a:prstGeom prst="roundRect">
            <a:avLst/>
          </a:prstGeom>
          <a:solidFill>
            <a:srgbClr val="F6F8FC"/>
          </a:solidFill>
          <a:ln w="19050">
            <a:solidFill>
              <a:srgbClr val="A7B1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66560" y="3730751"/>
            <a:ext cx="475488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0">
                <a:solidFill>
                  <a:srgbClr val="64748B"/>
                </a:solidFill>
                <a:latin typeface="Segoe UI"/>
              </a:rPr>
              <a:t>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4315967"/>
            <a:ext cx="4754880" cy="5029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0F172A"/>
                </a:solidFill>
                <a:latin typeface="Segoe UI Semibold"/>
              </a:rPr>
              <a:t>Screenshot 3 — The chatbot (Ask AI)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5696711"/>
            <a:ext cx="4754880" cy="3200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Segoe UI"/>
              </a:rPr>
              <a:t>paste screenshot here</a:t>
            </a:r>
          </a:p>
        </p:txBody>
      </p:sp>
      <p:pic>
        <p:nvPicPr>
          <p:cNvPr id="21" name="Picture 20" descr="logo_b94f57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310896"/>
            <a:ext cx="1417320" cy="5167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2563EB"/>
                </a:solidFill>
                <a:latin typeface="Segoe UI"/>
              </a:rPr>
              <a:t>BUILT WITH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0F172A"/>
                </a:solidFill>
                <a:latin typeface="Segoe UI Semibold"/>
              </a:rPr>
              <a:t>A small, focused tech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1005840" cy="444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58368" y="1965959"/>
            <a:ext cx="35204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58368" y="1965959"/>
            <a:ext cx="109728" cy="123444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50976" y="2167127"/>
            <a:ext cx="30632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Segoe UI Semibold"/>
              </a:rPr>
              <a:t>Streamlit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624327"/>
            <a:ext cx="30632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Segoe UI"/>
              </a:rPr>
              <a:t>the whole web UI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1688" y="1965959"/>
            <a:ext cx="35204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61688" y="1965959"/>
            <a:ext cx="109728" cy="1234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54296" y="2167127"/>
            <a:ext cx="30632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Segoe UI Semibold"/>
              </a:rPr>
              <a:t>Claude AI (Anthropic)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624327"/>
            <a:ext cx="30632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Segoe UI"/>
              </a:rPr>
              <a:t>two models: fast + smart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965959"/>
            <a:ext cx="35204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065008" y="1965959"/>
            <a:ext cx="109728" cy="123444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357616" y="2167127"/>
            <a:ext cx="30632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Segoe UI Semibold"/>
              </a:rPr>
              <a:t>gspread + Sheets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624327"/>
            <a:ext cx="30632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Segoe UI"/>
              </a:rPr>
              <a:t>storage / database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428999"/>
            <a:ext cx="35204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58368" y="3428999"/>
            <a:ext cx="109728" cy="1234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50976" y="3630167"/>
            <a:ext cx="30632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Segoe UI Semibold"/>
              </a:rPr>
              <a:t>pandas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" y="4087367"/>
            <a:ext cx="30632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Segoe UI"/>
              </a:rPr>
              <a:t>data wrangling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61688" y="3428999"/>
            <a:ext cx="35204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361688" y="3428999"/>
            <a:ext cx="109728" cy="123444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654296" y="3630167"/>
            <a:ext cx="30632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Segoe UI Semibold"/>
              </a:rPr>
              <a:t>git + subprocess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54296" y="4087367"/>
            <a:ext cx="30632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Segoe UI"/>
              </a:rPr>
              <a:t>the source data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65008" y="3428999"/>
            <a:ext cx="352044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065008" y="3428999"/>
            <a:ext cx="109728" cy="1234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357616" y="3630167"/>
            <a:ext cx="30632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0F172A"/>
                </a:solidFill>
                <a:latin typeface="Segoe UI Semibold"/>
              </a:rPr>
              <a:t>python-dotenv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57616" y="4087367"/>
            <a:ext cx="306324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Segoe UI"/>
              </a:rPr>
              <a:t>config &amp; secrets</a:t>
            </a:r>
          </a:p>
        </p:txBody>
      </p:sp>
      <p:pic>
        <p:nvPicPr>
          <p:cNvPr id="31" name="Picture 30" descr="logo_b94f57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310896"/>
            <a:ext cx="1417320" cy="51679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5803D"/>
                </a:solidFill>
                <a:latin typeface="Segoe UI"/>
              </a:rPr>
              <a:t>WHY IT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0F172A"/>
                </a:solidFill>
                <a:latin typeface="Segoe UI Semibold"/>
              </a:rPr>
              <a:t>The impact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1005840" cy="4445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58368" y="1965959"/>
            <a:ext cx="35204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2285999"/>
            <a:ext cx="3520440" cy="7315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5803D"/>
                </a:solidFill>
                <a:latin typeface="Segoe UI Semibold"/>
              </a:rPr>
              <a:t>~1–1.5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3108959"/>
            <a:ext cx="297180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64748B"/>
                </a:solidFill>
                <a:latin typeface="Segoe UI"/>
              </a:rPr>
              <a:t>recovered per developer, every week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1965959"/>
            <a:ext cx="35204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61688" y="2285999"/>
            <a:ext cx="3520440" cy="7315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4F46E5"/>
                </a:solidFill>
                <a:latin typeface="Segoe UI Semibold"/>
              </a:rPr>
              <a:t>0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3108959"/>
            <a:ext cx="297180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64748B"/>
                </a:solidFill>
                <a:latin typeface="Segoe UI"/>
              </a:rPr>
              <a:t>spent staring at a blank status box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5008" y="1965959"/>
            <a:ext cx="352044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65008" y="2285999"/>
            <a:ext cx="3520440" cy="7315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2563EB"/>
                </a:solidFill>
                <a:latin typeface="Segoe UI Semibold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8" y="3108959"/>
            <a:ext cx="2971800" cy="64008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64748B"/>
                </a:solidFill>
                <a:latin typeface="Segoe UI"/>
              </a:rPr>
              <a:t>of entries backed by real commits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4114799"/>
            <a:ext cx="10881360" cy="22860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100">
                <a:solidFill>
                  <a:srgbClr val="15803D"/>
                </a:solidFill>
                <a:latin typeface="Segoe UI"/>
              </a:rPr>
              <a:t>●  </a:t>
            </a:r>
            <a:r>
              <a:rPr sz="1700" b="1">
                <a:solidFill>
                  <a:srgbClr val="475569"/>
                </a:solidFill>
                <a:latin typeface="Segoe UI"/>
              </a:rPr>
              <a:t>More accurate &amp; consistent reporting</a:t>
            </a:r>
            <a:r>
              <a:rPr sz="1700">
                <a:solidFill>
                  <a:srgbClr val="64748B"/>
                </a:solidFill>
                <a:latin typeface="Segoe UI"/>
              </a:rPr>
              <a:t>  —  for the whole team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100">
                <a:solidFill>
                  <a:srgbClr val="15803D"/>
                </a:solidFill>
                <a:latin typeface="Segoe UI"/>
              </a:rPr>
              <a:t>●  </a:t>
            </a:r>
            <a:r>
              <a:rPr sz="1700" b="1">
                <a:solidFill>
                  <a:srgbClr val="475569"/>
                </a:solidFill>
                <a:latin typeface="Segoe UI"/>
              </a:rPr>
              <a:t>Better data for managers</a:t>
            </a:r>
            <a:r>
              <a:rPr sz="1700">
                <a:solidFill>
                  <a:srgbClr val="64748B"/>
                </a:solidFill>
                <a:latin typeface="Segoe UI"/>
              </a:rPr>
              <a:t>  —  cleaner project tracking and effort visibility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100">
                <a:solidFill>
                  <a:srgbClr val="15803D"/>
                </a:solidFill>
                <a:latin typeface="Segoe UI"/>
              </a:rPr>
              <a:t>●  </a:t>
            </a:r>
            <a:r>
              <a:rPr sz="1700" b="1">
                <a:solidFill>
                  <a:srgbClr val="475569"/>
                </a:solidFill>
                <a:latin typeface="Segoe UI"/>
              </a:rPr>
              <a:t>Removes the most disliked chore</a:t>
            </a:r>
            <a:r>
              <a:rPr sz="1700">
                <a:solidFill>
                  <a:srgbClr val="64748B"/>
                </a:solidFill>
                <a:latin typeface="Segoe UI"/>
              </a:rPr>
              <a:t>  —  so developers focus on real engineering</a:t>
            </a:r>
          </a:p>
        </p:txBody>
      </p:sp>
      <p:pic>
        <p:nvPicPr>
          <p:cNvPr id="17" name="Picture 16" descr="logo_b94f57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310896"/>
            <a:ext cx="1417320" cy="51679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4F46E5"/>
                </a:solidFill>
                <a:latin typeface="Segoe UI"/>
              </a:rPr>
              <a:t>WHAT'S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0F172A"/>
                </a:solidFill>
                <a:latin typeface="Segoe UI Semibold"/>
              </a:rPr>
              <a:t>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1005840" cy="444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8368" y="1874519"/>
            <a:ext cx="10789920" cy="45262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500"/>
              </a:spcAft>
            </a:pPr>
            <a:r>
              <a:rPr sz="1200">
                <a:solidFill>
                  <a:srgbClr val="4F46E5"/>
                </a:solidFill>
                <a:latin typeface="Segoe UI"/>
              </a:rPr>
              <a:t>●  </a:t>
            </a:r>
            <a:r>
              <a:rPr sz="1800" b="1">
                <a:solidFill>
                  <a:srgbClr val="475569"/>
                </a:solidFill>
                <a:latin typeface="Segoe UI"/>
              </a:rPr>
              <a:t>Pull PRs, branches &amp; ticket references</a:t>
            </a:r>
            <a:r>
              <a:rPr sz="1800">
                <a:solidFill>
                  <a:srgbClr val="64748B"/>
                </a:solidFill>
                <a:latin typeface="Segoe UI"/>
              </a:rPr>
              <a:t>  —  map work to Jira / Azure DevOps tickets</a:t>
            </a:r>
          </a:p>
          <a:p>
            <a:pPr>
              <a:lnSpc>
                <a:spcPct val="108000"/>
              </a:lnSpc>
              <a:spcAft>
                <a:spcPts val="1500"/>
              </a:spcAft>
            </a:pPr>
            <a:r>
              <a:rPr sz="1200">
                <a:solidFill>
                  <a:srgbClr val="4F46E5"/>
                </a:solidFill>
                <a:latin typeface="Segoe UI"/>
              </a:rPr>
              <a:t>●  </a:t>
            </a:r>
            <a:r>
              <a:rPr sz="1800" b="1">
                <a:solidFill>
                  <a:srgbClr val="475569"/>
                </a:solidFill>
                <a:latin typeface="Segoe UI"/>
              </a:rPr>
              <a:t>Auto-post standups to Slack / Teams</a:t>
            </a:r>
            <a:r>
              <a:rPr sz="1800">
                <a:solidFill>
                  <a:srgbClr val="64748B"/>
                </a:solidFill>
                <a:latin typeface="Segoe UI"/>
              </a:rPr>
              <a:t>  —  zero copy-paste</a:t>
            </a:r>
          </a:p>
          <a:p>
            <a:pPr>
              <a:lnSpc>
                <a:spcPct val="108000"/>
              </a:lnSpc>
              <a:spcAft>
                <a:spcPts val="1500"/>
              </a:spcAft>
            </a:pPr>
            <a:r>
              <a:rPr sz="1200">
                <a:solidFill>
                  <a:srgbClr val="4F46E5"/>
                </a:solidFill>
                <a:latin typeface="Segoe UI"/>
              </a:rPr>
              <a:t>●  </a:t>
            </a:r>
            <a:r>
              <a:rPr sz="1800" b="1">
                <a:solidFill>
                  <a:srgbClr val="475569"/>
                </a:solidFill>
                <a:latin typeface="Segoe UI"/>
              </a:rPr>
              <a:t>More export formats</a:t>
            </a:r>
            <a:r>
              <a:rPr sz="1800">
                <a:solidFill>
                  <a:srgbClr val="64748B"/>
                </a:solidFill>
                <a:latin typeface="Segoe UI"/>
              </a:rPr>
              <a:t>  —  Markdown status, CSV, PDF timesheets</a:t>
            </a:r>
          </a:p>
          <a:p>
            <a:pPr>
              <a:lnSpc>
                <a:spcPct val="108000"/>
              </a:lnSpc>
              <a:spcAft>
                <a:spcPts val="1500"/>
              </a:spcAft>
            </a:pPr>
            <a:r>
              <a:rPr sz="1200">
                <a:solidFill>
                  <a:srgbClr val="4F46E5"/>
                </a:solidFill>
                <a:latin typeface="Segoe UI"/>
              </a:rPr>
              <a:t>●  </a:t>
            </a:r>
            <a:r>
              <a:rPr sz="1800" b="1">
                <a:solidFill>
                  <a:srgbClr val="475569"/>
                </a:solidFill>
                <a:latin typeface="Segoe UI"/>
              </a:rPr>
              <a:t>Scheduled generation</a:t>
            </a:r>
            <a:r>
              <a:rPr sz="1800">
                <a:solidFill>
                  <a:srgbClr val="64748B"/>
                </a:solidFill>
                <a:latin typeface="Segoe UI"/>
              </a:rPr>
              <a:t>  —  a daily/weekly draft waiting in your inbox</a:t>
            </a:r>
          </a:p>
          <a:p>
            <a:pPr>
              <a:lnSpc>
                <a:spcPct val="108000"/>
              </a:lnSpc>
              <a:spcAft>
                <a:spcPts val="1500"/>
              </a:spcAft>
            </a:pPr>
            <a:r>
              <a:rPr sz="1200">
                <a:solidFill>
                  <a:srgbClr val="4F46E5"/>
                </a:solidFill>
                <a:latin typeface="Segoe UI"/>
              </a:rPr>
              <a:t>●  </a:t>
            </a:r>
            <a:r>
              <a:rPr sz="1800" b="1">
                <a:solidFill>
                  <a:srgbClr val="475569"/>
                </a:solidFill>
                <a:latin typeface="Segoe UI"/>
              </a:rPr>
              <a:t>Team dashboards</a:t>
            </a:r>
            <a:r>
              <a:rPr sz="1800">
                <a:solidFill>
                  <a:srgbClr val="64748B"/>
                </a:solidFill>
                <a:latin typeface="Segoe UI"/>
              </a:rPr>
              <a:t>  —  roll-ups across everyone, not just one developer</a:t>
            </a:r>
          </a:p>
        </p:txBody>
      </p:sp>
      <p:pic>
        <p:nvPicPr>
          <p:cNvPr id="8" name="Picture 7" descr="logo_b94f57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310896"/>
            <a:ext cx="1417320" cy="51679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457200"/>
            <a:ext cx="1088136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4F46E5"/>
                </a:solidFill>
                <a:latin typeface="Segoe UI"/>
              </a:rPr>
              <a:t>THE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86384"/>
            <a:ext cx="10881360" cy="8229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>
                <a:solidFill>
                  <a:srgbClr val="0F172A"/>
                </a:solidFill>
                <a:latin typeface="Segoe UI Semibold"/>
              </a:rPr>
              <a:t>Smarter &amp; automated: calendar-aware timesheets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36192"/>
            <a:ext cx="1005840" cy="4445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58368" y="1874519"/>
            <a:ext cx="10835640" cy="105156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2039111"/>
            <a:ext cx="1033272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1">
                <a:solidFill>
                  <a:srgbClr val="FFFFFF"/>
                </a:solidFill>
                <a:latin typeface="Segoe UI Semibold"/>
              </a:rPr>
              <a:t>📅  Connect your calendar — count only real work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478023"/>
            <a:ext cx="1024128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E0E7FF"/>
                </a:solidFill>
                <a:latin typeface="Segoe UI"/>
              </a:rPr>
              <a:t>The app cross-checks your calendar so it never logs hours when you weren’t actually coding.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3200399"/>
            <a:ext cx="35204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58368" y="3200399"/>
            <a:ext cx="3520440" cy="91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14400" y="3456431"/>
            <a:ext cx="306324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>
                <a:solidFill>
                  <a:srgbClr val="2563EB"/>
                </a:solidFill>
                <a:latin typeface="Segoe UI"/>
              </a:rPr>
              <a:t>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7"/>
            <a:ext cx="30632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F172A"/>
                </a:solidFill>
                <a:latin typeface="Segoe UI Semibold"/>
              </a:rPr>
              <a:t>Holidays &amp; PTO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407407"/>
            <a:ext cx="3063240" cy="7315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Auto-skip public holidays and days off — no timesheet when you’re not working.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3200399"/>
            <a:ext cx="35204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61688" y="3200399"/>
            <a:ext cx="3520440" cy="9144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17720" y="3456431"/>
            <a:ext cx="306324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>
                <a:solidFill>
                  <a:srgbClr val="15803D"/>
                </a:solidFill>
                <a:latin typeface="Segoe UI"/>
              </a:rPr>
              <a:t>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4041647"/>
            <a:ext cx="30632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F172A"/>
                </a:solidFill>
                <a:latin typeface="Segoe UI Semibold"/>
              </a:rPr>
              <a:t>Trips &amp; travel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407407"/>
            <a:ext cx="3063240" cy="7315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If the calendar shows a trip, those days aren’t counted as coding time.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65008" y="3200399"/>
            <a:ext cx="35204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065008" y="3200399"/>
            <a:ext cx="3520440" cy="914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21040" y="3456431"/>
            <a:ext cx="3063240" cy="54864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>
                <a:solidFill>
                  <a:srgbClr val="B45309"/>
                </a:solidFill>
                <a:latin typeface="Segoe UI"/>
              </a:rPr>
              <a:t>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4041647"/>
            <a:ext cx="3063240" cy="36576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0F172A"/>
                </a:solidFill>
                <a:latin typeface="Segoe UI Semibold"/>
              </a:rPr>
              <a:t>Meeting-heavy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4407407"/>
            <a:ext cx="3063240" cy="73152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64748B"/>
                </a:solidFill>
                <a:latin typeface="Segoe UI"/>
              </a:rPr>
              <a:t>A day full of meetings won’t be over-counted as hours of development.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349239"/>
            <a:ext cx="1088136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The goal:  </a:t>
            </a:r>
            <a:r>
              <a:rPr sz="1600" b="1">
                <a:solidFill>
                  <a:srgbClr val="4F46E5"/>
                </a:solidFill>
                <a:latin typeface="Segoe UI"/>
              </a:rPr>
              <a:t>a timesheet that fills itself — accurately — with almost no edits.</a:t>
            </a:r>
          </a:p>
        </p:txBody>
      </p:sp>
      <p:pic>
        <p:nvPicPr>
          <p:cNvPr id="26" name="Picture 25" descr="logo_b94f57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310896"/>
            <a:ext cx="1417320" cy="51679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EF1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128016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5200" b="1">
                <a:solidFill>
                  <a:srgbClr val="FFFFFF"/>
                </a:solidFill>
                <a:latin typeface="Segoe UI Semibold"/>
              </a:rPr>
              <a:t>Thank you!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3063240"/>
            <a:ext cx="9601200" cy="9144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E0E7FF"/>
                </a:solidFill>
                <a:latin typeface="Segoe UI"/>
              </a:rPr>
              <a:t>Your work is already logged in Git. Let AI write the report.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46320"/>
            <a:ext cx="10515600" cy="457200"/>
          </a:xfrm>
          <a:prstGeom prst="rect">
            <a:avLst/>
          </a:prstGeom>
          <a:noFill/>
        </p:spPr>
        <p:txBody>
          <a:bodyPr wrap="square" lIns="25400" tIns="25400" rIns="25400" bIns="25400" anchor="t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C7D2FE"/>
                </a:solidFill>
                <a:latin typeface="Segoe UI"/>
              </a:rPr>
              <a:t>Questions &amp; live demo welcome</a:t>
            </a:r>
          </a:p>
        </p:txBody>
      </p:sp>
      <p:pic>
        <p:nvPicPr>
          <p:cNvPr id="9" name="Picture 8" descr="logo_acc4c7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8615" y="310896"/>
            <a:ext cx="1417320" cy="51679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1219</Words>
  <Application>Microsoft Office PowerPoint</Application>
  <PresentationFormat>Widescreen</PresentationFormat>
  <Paragraphs>176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Blend Podvorica</cp:lastModifiedBy>
  <cp:revision>2</cp:revision>
  <dcterms:created xsi:type="dcterms:W3CDTF">2013-01-27T09:14:16Z</dcterms:created>
  <dcterms:modified xsi:type="dcterms:W3CDTF">2026-07-09T22:03:11Z</dcterms:modified>
  <cp:category/>
</cp:coreProperties>
</file>