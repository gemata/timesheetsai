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06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23360"/>
            <a:ext cx="12191695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822960"/>
            <a:ext cx="86868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32688"/>
            <a:ext cx="8686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>
                <a:solidFill>
                  <a:srgbClr val="4F46E5"/>
                </a:solidFill>
                <a:latin typeface="Segoe UI"/>
              </a:rPr>
              <a:t>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60120"/>
            <a:ext cx="8229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7D2FE"/>
                </a:solidFill>
                <a:latin typeface="Segoe UI"/>
              </a:rPr>
              <a:t>HACKATHON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105156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Segoe UI Semibold"/>
              </a:rPr>
              <a:t>AI Timesheet &amp; Status Generator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102412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E0E7FF"/>
                </a:solidFill>
                <a:latin typeface="Segoe UI"/>
              </a:rPr>
              <a:t>Turn your Git history into ready-to-send standups, status updates &amp; timesheets.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475569"/>
                </a:solidFill>
                <a:latin typeface="Segoe UI"/>
              </a:rPr>
              <a:t>Built with Streamlit  +  Claude AI (two models)  +  Google Sheets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Presented by  </a:t>
            </a:r>
            <a:r>
              <a:rPr sz="1300" b="1">
                <a:solidFill>
                  <a:srgbClr val="4F46E5"/>
                </a:solidFill>
                <a:latin typeface="Segoe UI"/>
              </a:rPr>
              <a:t>bp55994@ubt-uni.net</a:t>
            </a:r>
            <a:r>
              <a:rPr sz="1300" b="0">
                <a:solidFill>
                  <a:srgbClr val="64748B"/>
                </a:solidFill>
                <a:latin typeface="Segoe UI"/>
              </a:rPr>
              <a:t>     •   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F172A"/>
                </a:solidFill>
                <a:latin typeface="Segoe UI Semibold"/>
              </a:rPr>
              <a:t>We keep rewriting what Git already knows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00584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6766560" cy="4526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200">
                <a:solidFill>
                  <a:srgbClr val="4F46E5"/>
                </a:solidFill>
                <a:latin typeface="Segoe UI"/>
              </a:rPr>
              <a:t>●  </a:t>
            </a:r>
            <a:r>
              <a:rPr sz="1800" b="1">
                <a:solidFill>
                  <a:srgbClr val="475569"/>
                </a:solidFill>
                <a:latin typeface="Segoe UI"/>
              </a:rPr>
              <a:t>Every developer answers the same question</a:t>
            </a:r>
            <a:r>
              <a:rPr sz="1800">
                <a:solidFill>
                  <a:srgbClr val="64748B"/>
                </a:solidFill>
                <a:latin typeface="Segoe UI"/>
              </a:rPr>
              <a:t>  —  “What did you work on?”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200">
                <a:solidFill>
                  <a:srgbClr val="4F46E5"/>
                </a:solidFill>
                <a:latin typeface="Segoe UI"/>
              </a:rPr>
              <a:t>●  </a:t>
            </a:r>
            <a:r>
              <a:rPr sz="1800" b="1">
                <a:solidFill>
                  <a:srgbClr val="475569"/>
                </a:solidFill>
                <a:latin typeface="Segoe UI"/>
              </a:rPr>
              <a:t>Standups, weekly status reports and timesheets</a:t>
            </a:r>
            <a:r>
              <a:rPr sz="1800">
                <a:solidFill>
                  <a:srgbClr val="64748B"/>
                </a:solidFill>
                <a:latin typeface="Segoe UI"/>
              </a:rPr>
              <a:t>  —  all ask for it, separately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200">
                <a:solidFill>
                  <a:srgbClr val="4F46E5"/>
                </a:solidFill>
                <a:latin typeface="Segoe UI"/>
              </a:rPr>
              <a:t>●  </a:t>
            </a:r>
            <a:r>
              <a:rPr sz="1800" b="1">
                <a:solidFill>
                  <a:srgbClr val="475569"/>
                </a:solidFill>
                <a:latin typeface="Segoe UI"/>
              </a:rPr>
              <a:t>We rebuild the answer by hand</a:t>
            </a:r>
            <a:r>
              <a:rPr sz="1800">
                <a:solidFill>
                  <a:srgbClr val="64748B"/>
                </a:solidFill>
                <a:latin typeface="Segoe UI"/>
              </a:rPr>
              <a:t>  —  hours or days later, guessing the details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200">
                <a:solidFill>
                  <a:srgbClr val="4F46E5"/>
                </a:solidFill>
                <a:latin typeface="Segoe UI"/>
              </a:rPr>
              <a:t>●  </a:t>
            </a:r>
            <a:r>
              <a:rPr sz="1800" b="1">
                <a:solidFill>
                  <a:srgbClr val="475569"/>
                </a:solidFill>
                <a:latin typeface="Segoe UI"/>
              </a:rPr>
              <a:t>The result</a:t>
            </a:r>
            <a:r>
              <a:rPr sz="1800">
                <a:solidFill>
                  <a:srgbClr val="64748B"/>
                </a:solidFill>
                <a:latin typeface="Segoe UI"/>
              </a:rPr>
              <a:t>  —  repetitive, error-prone, and it under-reports real effort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200">
                <a:solidFill>
                  <a:srgbClr val="4F46E5"/>
                </a:solidFill>
                <a:latin typeface="Segoe UI"/>
              </a:rPr>
              <a:t>●  </a:t>
            </a:r>
            <a:r>
              <a:rPr sz="1800" b="1">
                <a:solidFill>
                  <a:srgbClr val="475569"/>
                </a:solidFill>
                <a:latin typeface="Segoe UI"/>
              </a:rPr>
              <a:t>Nobody enjoys it</a:t>
            </a:r>
            <a:r>
              <a:rPr sz="1800">
                <a:solidFill>
                  <a:srgbClr val="64748B"/>
                </a:solidFill>
                <a:latin typeface="Segoe UI"/>
              </a:rPr>
              <a:t>  —  it’s the most disliked part of the routine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874519"/>
            <a:ext cx="3657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18120" y="1874519"/>
            <a:ext cx="109728" cy="19659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0728" y="2057399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⏱  15–20 min / 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0728" y="2532887"/>
            <a:ext cx="320040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lost per developer on standup &amp; status writing — time that never touches real engineering.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4069079"/>
            <a:ext cx="3657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4069079"/>
            <a:ext cx="109728" cy="19659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0728" y="4251959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❌  Low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0728" y="4727447"/>
            <a:ext cx="320040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written from memory, so effort is under-counted and reports drift out of sync with what actually happened.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THE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F172A"/>
                </a:solidFill>
                <a:latin typeface="Segoe UI Semibold"/>
              </a:rPr>
              <a:t>The answer already exists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00584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107899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The work is already recorded — in your Git history.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799"/>
            <a:ext cx="26060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227831"/>
            <a:ext cx="26060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2563EB"/>
                </a:solidFill>
                <a:latin typeface="Segoe UI"/>
              </a:rPr>
              <a:t>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867911"/>
            <a:ext cx="26060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Commits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251959"/>
            <a:ext cx="26060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what you did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3008" y="2971799"/>
            <a:ext cx="26060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3227831"/>
            <a:ext cx="26060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2563EB"/>
                </a:solidFill>
                <a:latin typeface="Segoe UI"/>
              </a:rPr>
              <a:t>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3867911"/>
            <a:ext cx="26060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Timestamps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4251959"/>
            <a:ext cx="26060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when &amp; how long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2971799"/>
            <a:ext cx="26060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3227831"/>
            <a:ext cx="26060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2563EB"/>
                </a:solidFill>
                <a:latin typeface="Segoe UI"/>
              </a:rPr>
              <a:t>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3867911"/>
            <a:ext cx="26060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Branches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4251959"/>
            <a:ext cx="26060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the feature / 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62288" y="2971799"/>
            <a:ext cx="26060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62288" y="3227831"/>
            <a:ext cx="26060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2563EB"/>
                </a:solidFill>
                <a:latin typeface="Segoe UI"/>
              </a:rPr>
              <a:t>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288" y="3867911"/>
            <a:ext cx="26060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Ticket refs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4251959"/>
            <a:ext cx="26060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which project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120639"/>
            <a:ext cx="10835640" cy="11430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413247"/>
            <a:ext cx="108356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 Semibold"/>
              </a:rPr>
              <a:t>Stop writing status updates.  Generate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Segoe U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F172A"/>
                </a:solidFill>
                <a:latin typeface="Segoe UI Semibold"/>
              </a:rPr>
              <a:t>An AI tool that drafts your reports for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00584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107899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475569"/>
                </a:solidFill>
                <a:latin typeface="Segoe UI"/>
              </a:rPr>
              <a:t>It reads your Git activity and writes clean, accurate drafts you lightly edit — not a blank box.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43199"/>
            <a:ext cx="35204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743199"/>
            <a:ext cx="109728" cy="2286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926079"/>
            <a:ext cx="3063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🗣  Standup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401567"/>
            <a:ext cx="3063240" cy="1508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A short bullet list of what you worked on — ready to paste into the daily standup.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743199"/>
            <a:ext cx="35204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743199"/>
            <a:ext cx="109728" cy="2286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2926079"/>
            <a:ext cx="3063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📄  Weekly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3401567"/>
            <a:ext cx="3063240" cy="1508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A narrative summary of the week plus likely blockers, written automatically.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2743199"/>
            <a:ext cx="35204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1" y="2743199"/>
            <a:ext cx="109728" cy="22860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39" y="2926079"/>
            <a:ext cx="3063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🧾  Timesheet entries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9" y="3401567"/>
            <a:ext cx="3063240" cy="1508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One row per commit with realistic hours and a status — grouped by author &amp; day.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303519"/>
            <a:ext cx="1078992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Plus:  </a:t>
            </a:r>
            <a:r>
              <a:rPr sz="1700" b="0">
                <a:solidFill>
                  <a:srgbClr val="475569"/>
                </a:solidFill>
                <a:latin typeface="Segoe UI"/>
              </a:rPr>
              <a:t>ask questions about your own work in plain English (“What did I do this week?”).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F172A"/>
                </a:solidFill>
                <a:latin typeface="Segoe UI Semibold"/>
              </a:rPr>
              <a:t>From commits to reports in four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00584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5147" y="2331719"/>
            <a:ext cx="24231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5147" y="2331719"/>
            <a:ext cx="242316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147" y="2624327"/>
            <a:ext cx="24231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>
                <a:solidFill>
                  <a:srgbClr val="4F46E5"/>
                </a:solidFill>
                <a:latin typeface="Segoe UI"/>
              </a:rPr>
              <a:t>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147" y="3291839"/>
            <a:ext cx="24231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Git 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147" y="3657599"/>
            <a:ext cx="24231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read commits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147" y="3950207"/>
            <a:ext cx="24231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+ timestamps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973171" y="3172967"/>
            <a:ext cx="393192" cy="329184"/>
          </a:xfrm>
          <a:prstGeom prst="rightArrow">
            <a:avLst/>
          </a:prstGeom>
          <a:solidFill>
            <a:srgbClr val="B9C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21227" y="2331719"/>
            <a:ext cx="24231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1227" y="2331719"/>
            <a:ext cx="242316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1227" y="2624327"/>
            <a:ext cx="24231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>
                <a:solidFill>
                  <a:srgbClr val="2563EB"/>
                </a:solidFill>
                <a:latin typeface="Segoe UI"/>
              </a:rP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1227" y="3291839"/>
            <a:ext cx="24231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AI Model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1227" y="3657599"/>
            <a:ext cx="24231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clean up text,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1227" y="3950207"/>
            <a:ext cx="24231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infer status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899251" y="3172967"/>
            <a:ext cx="393192" cy="329184"/>
          </a:xfrm>
          <a:prstGeom prst="rightArrow">
            <a:avLst/>
          </a:prstGeom>
          <a:solidFill>
            <a:srgbClr val="B9C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47307" y="2331719"/>
            <a:ext cx="24231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47307" y="2331719"/>
            <a:ext cx="2423160" cy="10972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7307" y="2624327"/>
            <a:ext cx="24231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>
                <a:solidFill>
                  <a:srgbClr val="15803D"/>
                </a:solidFill>
                <a:latin typeface="Segoe UI"/>
              </a:rP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7307" y="3291839"/>
            <a:ext cx="24231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Google Sheets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7307" y="3657599"/>
            <a:ext cx="24231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store as the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7307" y="3950207"/>
            <a:ext cx="24231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database / API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825331" y="3172967"/>
            <a:ext cx="393192" cy="329184"/>
          </a:xfrm>
          <a:prstGeom prst="rightArrow">
            <a:avLst/>
          </a:prstGeom>
          <a:solidFill>
            <a:srgbClr val="B9C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73387" y="2331719"/>
            <a:ext cx="24231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73387" y="2331719"/>
            <a:ext cx="242316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73387" y="2624327"/>
            <a:ext cx="24231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>
                <a:solidFill>
                  <a:srgbClr val="4F46E5"/>
                </a:solidFill>
                <a:latin typeface="Segoe UI"/>
              </a:rPr>
              <a:t>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73387" y="3291839"/>
            <a:ext cx="24231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AI Model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73387" y="3657599"/>
            <a:ext cx="24231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chat &amp; answer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73387" y="3950207"/>
            <a:ext cx="24231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questions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4846319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You control the loop:  </a:t>
            </a:r>
            <a:r>
              <a:rPr sz="1600" b="0">
                <a:solidFill>
                  <a:srgbClr val="475569"/>
                </a:solidFill>
                <a:latin typeface="Segoe UI"/>
              </a:rPr>
              <a:t>pick a date range and repo → the app generates → you review &amp; edit the table → export to Google Sheets → ask the AI anything about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Segoe UI"/>
              </a:rPr>
              <a:t>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F172A"/>
                </a:solidFill>
                <a:latin typeface="Segoe UI Semibold"/>
              </a:rPr>
              <a:t>The two-model AI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00584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107899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475569"/>
                </a:solidFill>
                <a:latin typeface="Segoe UI"/>
              </a:rPr>
              <a:t>Two models, each doing the job it is best at — fast &amp; cheap for bulk work, smart for reasoning.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88919"/>
            <a:ext cx="52578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788919"/>
            <a:ext cx="5257800" cy="685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35223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 Semibold"/>
              </a:rPr>
              <a:t>Model 1 — Fast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599"/>
            <a:ext cx="47548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Segoe UI"/>
              </a:rPr>
              <a:t>Claude Haiku 4.5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799"/>
            <a:ext cx="4754880" cy="2286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2563EB"/>
                </a:solidFill>
                <a:latin typeface="Segoe UI"/>
              </a:rPr>
              <a:t>●  </a:t>
            </a:r>
            <a:r>
              <a:rPr sz="1400" b="1">
                <a:solidFill>
                  <a:srgbClr val="475569"/>
                </a:solidFill>
                <a:latin typeface="Segoe UI"/>
              </a:rPr>
              <a:t>Cleans up every commit message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2563EB"/>
                </a:solidFill>
                <a:latin typeface="Segoe UI"/>
              </a:rPr>
              <a:t>●  </a:t>
            </a:r>
            <a:r>
              <a:rPr sz="1400" b="1">
                <a:solidFill>
                  <a:srgbClr val="475569"/>
                </a:solidFill>
                <a:latin typeface="Segoe UI"/>
              </a:rPr>
              <a:t>Infers a status (Completed / In Progress)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2563EB"/>
                </a:solidFill>
                <a:latin typeface="Segoe UI"/>
              </a:rPr>
              <a:t>●  </a:t>
            </a:r>
            <a:r>
              <a:rPr sz="1400" b="1">
                <a:solidFill>
                  <a:srgbClr val="475569"/>
                </a:solidFill>
                <a:latin typeface="Segoe UI"/>
              </a:rPr>
              <a:t>Writes the weekly standup + blockers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2788919"/>
            <a:ext cx="52578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2788919"/>
            <a:ext cx="5257800" cy="685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935223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 Semibold"/>
              </a:rPr>
              <a:t>Model 2 — Smart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657599"/>
            <a:ext cx="47548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4F46E5"/>
                </a:solidFill>
                <a:latin typeface="Segoe UI"/>
              </a:rPr>
              <a:t>Claude Sonnet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114799"/>
            <a:ext cx="4754880" cy="2286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4F46E5"/>
                </a:solidFill>
                <a:latin typeface="Segoe UI"/>
              </a:rPr>
              <a:t>●  </a:t>
            </a:r>
            <a:r>
              <a:rPr sz="1400" b="1">
                <a:solidFill>
                  <a:srgbClr val="475569"/>
                </a:solidFill>
                <a:latin typeface="Segoe UI"/>
              </a:rPr>
              <a:t>Conversational Q&amp;A over your data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4F46E5"/>
                </a:solidFill>
                <a:latin typeface="Segoe UI"/>
              </a:rPr>
              <a:t>●  </a:t>
            </a:r>
            <a:r>
              <a:rPr sz="1400" b="1">
                <a:solidFill>
                  <a:srgbClr val="475569"/>
                </a:solidFill>
                <a:latin typeface="Segoe UI"/>
              </a:rPr>
              <a:t>Billing math using the rate card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4F46E5"/>
                </a:solidFill>
                <a:latin typeface="Segoe UI"/>
              </a:rPr>
              <a:t>●  </a:t>
            </a:r>
            <a:r>
              <a:rPr sz="1400" b="1">
                <a:solidFill>
                  <a:srgbClr val="475569"/>
                </a:solidFill>
                <a:latin typeface="Segoe UI"/>
              </a:rPr>
              <a:t>Accurate, grounded answers (no guessing)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806439"/>
            <a:ext cx="108813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Why split it?  </a:t>
            </a:r>
            <a:r>
              <a:rPr sz="1600" b="0">
                <a:solidFill>
                  <a:srgbClr val="64748B"/>
                </a:solidFill>
                <a:latin typeface="Segoe UI"/>
              </a:rPr>
              <a:t>You pay pennies for the heavy lifting and get top-tier reasoning only where it matters.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5803D"/>
                </a:solidFill>
                <a:latin typeface="Segoe UI"/>
              </a:rPr>
              <a:t>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F172A"/>
                </a:solidFill>
                <a:latin typeface="Segoe UI Semibold"/>
              </a:rPr>
              <a:t>Hours you can trust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005840" cy="4445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107899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0F172A"/>
                </a:solidFill>
                <a:latin typeface="Segoe UI Semibold"/>
              </a:rPr>
              <a:t>Hours are calculated from real commit timestamps — not guessed by the 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97479"/>
            <a:ext cx="6949440" cy="3703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100">
                <a:solidFill>
                  <a:srgbClr val="15803D"/>
                </a:solidFill>
                <a:latin typeface="Segoe UI"/>
              </a:rPr>
              <a:t>●  </a:t>
            </a:r>
            <a:r>
              <a:rPr sz="1700" b="1">
                <a:solidFill>
                  <a:srgbClr val="475569"/>
                </a:solidFill>
                <a:latin typeface="Segoe UI"/>
              </a:rPr>
              <a:t>Grouped by author, per day</a:t>
            </a:r>
            <a:r>
              <a:rPr sz="1700">
                <a:solidFill>
                  <a:srgbClr val="64748B"/>
                </a:solidFill>
                <a:latin typeface="Segoe UI"/>
              </a:rPr>
              <a:t>  —  then sorted by commit time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100">
                <a:solidFill>
                  <a:srgbClr val="15803D"/>
                </a:solidFill>
                <a:latin typeface="Segoe UI"/>
              </a:rPr>
              <a:t>●  </a:t>
            </a:r>
            <a:r>
              <a:rPr sz="1700" b="1">
                <a:solidFill>
                  <a:srgbClr val="475569"/>
                </a:solidFill>
                <a:latin typeface="Segoe UI"/>
              </a:rPr>
              <a:t>Time between two commits</a:t>
            </a:r>
            <a:r>
              <a:rPr sz="1700">
                <a:solidFill>
                  <a:srgbClr val="64748B"/>
                </a:solidFill>
                <a:latin typeface="Segoe UI"/>
              </a:rPr>
              <a:t>  —  counts as time worked on that task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100">
                <a:solidFill>
                  <a:srgbClr val="15803D"/>
                </a:solidFill>
                <a:latin typeface="Segoe UI"/>
              </a:rPr>
              <a:t>●  </a:t>
            </a:r>
            <a:r>
              <a:rPr sz="1700" b="1">
                <a:solidFill>
                  <a:srgbClr val="475569"/>
                </a:solidFill>
                <a:latin typeface="Segoe UI"/>
              </a:rPr>
              <a:t>First commit of the day</a:t>
            </a:r>
            <a:r>
              <a:rPr sz="1700">
                <a:solidFill>
                  <a:srgbClr val="64748B"/>
                </a:solidFill>
                <a:latin typeface="Segoe UI"/>
              </a:rPr>
              <a:t>  —  gets a 1-hour “warm-up” credit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100">
                <a:solidFill>
                  <a:srgbClr val="15803D"/>
                </a:solidFill>
                <a:latin typeface="Segoe UI"/>
              </a:rPr>
              <a:t>●  </a:t>
            </a:r>
            <a:r>
              <a:rPr sz="1700" b="1">
                <a:solidFill>
                  <a:srgbClr val="475569"/>
                </a:solidFill>
                <a:latin typeface="Segoe UI"/>
              </a:rPr>
              <a:t>A gap longer than 4 hours</a:t>
            </a:r>
            <a:r>
              <a:rPr sz="1700">
                <a:solidFill>
                  <a:srgbClr val="64748B"/>
                </a:solidFill>
                <a:latin typeface="Segoe UI"/>
              </a:rPr>
              <a:t>  —  is treated as a break, not work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100">
                <a:solidFill>
                  <a:srgbClr val="15803D"/>
                </a:solidFill>
                <a:latin typeface="Segoe UI"/>
              </a:rPr>
              <a:t>●  </a:t>
            </a:r>
            <a:r>
              <a:rPr sz="1700" b="1">
                <a:solidFill>
                  <a:srgbClr val="475569"/>
                </a:solidFill>
                <a:latin typeface="Segoe UI"/>
              </a:rPr>
              <a:t>Each day is capped</a:t>
            </a:r>
            <a:r>
              <a:rPr sz="1700">
                <a:solidFill>
                  <a:srgbClr val="64748B"/>
                </a:solidFill>
                <a:latin typeface="Segoe UI"/>
              </a:rPr>
              <a:t>  —  by your “max hours per day” rule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2697479"/>
            <a:ext cx="36576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8120" y="2697479"/>
            <a:ext cx="109728" cy="329184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10728" y="2880359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Segoe UI Semibold"/>
              </a:rPr>
              <a:t>Example — one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0728" y="3355847"/>
            <a:ext cx="3200400" cy="2514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0728" y="3474719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64748B"/>
                </a:solidFill>
                <a:latin typeface="Segoe UI"/>
              </a:rPr>
              <a:t>09:14  first commit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69880" y="3474719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475569"/>
                </a:solidFill>
                <a:latin typeface="Segoe UI"/>
              </a:rPr>
              <a:t>1.0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0728" y="4023359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64748B"/>
                </a:solidFill>
                <a:latin typeface="Segoe UI"/>
              </a:rPr>
              <a:t>11:02  next commit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4023359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475569"/>
                </a:solidFill>
                <a:latin typeface="Segoe UI"/>
              </a:rPr>
              <a:t>1.8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0728" y="4571999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64748B"/>
                </a:solidFill>
                <a:latin typeface="Segoe UI"/>
              </a:rPr>
              <a:t>17:40  after a long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69880" y="4571999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475569"/>
                </a:solidFill>
                <a:latin typeface="Segoe UI"/>
              </a:rPr>
              <a:t>4.0 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8" y="5120639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Day 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69880" y="5120639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5803D"/>
                </a:solidFill>
                <a:latin typeface="Segoe UI"/>
              </a:rPr>
              <a:t>6.8 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Segoe UI"/>
              </a:rPr>
              <a:t>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F172A"/>
                </a:solidFill>
                <a:latin typeface="Segoe UI Semibold"/>
              </a:rPr>
              <a:t>Google Sheets is the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00584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107899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475569"/>
                </a:solidFill>
                <a:latin typeface="Segoe UI"/>
              </a:rPr>
              <a:t>No backend server to run — one shared Google Sheet is both the database and the API.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43199"/>
            <a:ext cx="352044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743199"/>
            <a:ext cx="109728" cy="26517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926079"/>
            <a:ext cx="3063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📋  Raw_Entries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401567"/>
            <a:ext cx="3063240" cy="1874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One row per commit:
Date + time, Author, Summary, Hours, Status.
Your full timesheet log.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743199"/>
            <a:ext cx="352044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743199"/>
            <a:ext cx="109728" cy="26517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2926079"/>
            <a:ext cx="3063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📈  Dashboard_Summary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3401567"/>
            <a:ext cx="3063240" cy="1874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One row per week:
Total hours, top author, an AI-written standup, and blockers.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2743199"/>
            <a:ext cx="352044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1" y="2743199"/>
            <a:ext cx="109728" cy="265176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39" y="2926079"/>
            <a:ext cx="3063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💰  Rates_Config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9" y="3401567"/>
            <a:ext cx="3063240" cy="1874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Hourly rate per author
(Author, Client, Rate).
Used by the chat for billing math.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623559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Any tool or teammate can read the same tabs — it doubles as a lightweight API.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THE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F172A"/>
                </a:solidFill>
                <a:latin typeface="Segoe UI Semibold"/>
              </a:rPr>
              <a:t>Generate, review, export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00584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10789920" cy="4526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>
                <a:solidFill>
                  <a:srgbClr val="2563EB"/>
                </a:solidFill>
                <a:latin typeface="Segoe UI"/>
              </a:rPr>
              <a:t>●  </a:t>
            </a:r>
            <a:r>
              <a:rPr sz="1800" b="1">
                <a:solidFill>
                  <a:srgbClr val="475569"/>
                </a:solidFill>
                <a:latin typeface="Segoe UI"/>
              </a:rPr>
              <a:t>One click to generate</a:t>
            </a:r>
            <a:r>
              <a:rPr sz="1800">
                <a:solidFill>
                  <a:srgbClr val="64748B"/>
                </a:solidFill>
                <a:latin typeface="Segoe UI"/>
              </a:rPr>
              <a:t>  —  pull commits for the last 7–90 days and build the table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>
                <a:solidFill>
                  <a:srgbClr val="2563EB"/>
                </a:solidFill>
                <a:latin typeface="Segoe UI"/>
              </a:rPr>
              <a:t>●  </a:t>
            </a:r>
            <a:r>
              <a:rPr sz="1800" b="1">
                <a:solidFill>
                  <a:srgbClr val="475569"/>
                </a:solidFill>
                <a:latin typeface="Segoe UI"/>
              </a:rPr>
              <a:t>Live stat cards</a:t>
            </a:r>
            <a:r>
              <a:rPr sz="1800">
                <a:solidFill>
                  <a:srgbClr val="64748B"/>
                </a:solidFill>
                <a:latin typeface="Segoe UI"/>
              </a:rPr>
              <a:t>  —  total commits, hours, completion %, contributors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>
                <a:solidFill>
                  <a:srgbClr val="2563EB"/>
                </a:solidFill>
                <a:latin typeface="Segoe UI"/>
              </a:rPr>
              <a:t>●  </a:t>
            </a:r>
            <a:r>
              <a:rPr sz="1800" b="1">
                <a:solidFill>
                  <a:srgbClr val="475569"/>
                </a:solidFill>
                <a:latin typeface="Segoe UI"/>
              </a:rPr>
              <a:t>Editable, spreadsheet-style table</a:t>
            </a:r>
            <a:r>
              <a:rPr sz="1800">
                <a:solidFill>
                  <a:srgbClr val="64748B"/>
                </a:solidFill>
                <a:latin typeface="Segoe UI"/>
              </a:rPr>
              <a:t>  —  fix hours, change status, delete rows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>
                <a:solidFill>
                  <a:srgbClr val="2563EB"/>
                </a:solidFill>
                <a:latin typeface="Segoe UI"/>
              </a:rPr>
              <a:t>●  </a:t>
            </a:r>
            <a:r>
              <a:rPr sz="1800" b="1">
                <a:solidFill>
                  <a:srgbClr val="475569"/>
                </a:solidFill>
                <a:latin typeface="Segoe UI"/>
              </a:rPr>
              <a:t>Business rules</a:t>
            </a:r>
            <a:r>
              <a:rPr sz="1800">
                <a:solidFill>
                  <a:srgbClr val="64748B"/>
                </a:solidFill>
                <a:latin typeface="Segoe UI"/>
              </a:rPr>
              <a:t>  —  cap hours/day, include weekends, flag short days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>
                <a:solidFill>
                  <a:srgbClr val="2563EB"/>
                </a:solidFill>
                <a:latin typeface="Segoe UI"/>
              </a:rPr>
              <a:t>●  </a:t>
            </a:r>
            <a:r>
              <a:rPr sz="1800" b="1">
                <a:solidFill>
                  <a:srgbClr val="475569"/>
                </a:solidFill>
                <a:latin typeface="Segoe UI"/>
              </a:rPr>
              <a:t>Author dropdown</a:t>
            </a:r>
            <a:r>
              <a:rPr sz="1800">
                <a:solidFill>
                  <a:srgbClr val="64748B"/>
                </a:solidFill>
                <a:latin typeface="Segoe UI"/>
              </a:rPr>
              <a:t>  —  auto-filled from the repo — filter to just you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>
                <a:solidFill>
                  <a:srgbClr val="2563EB"/>
                </a:solidFill>
                <a:latin typeface="Segoe UI"/>
              </a:rPr>
              <a:t>●  </a:t>
            </a:r>
            <a:r>
              <a:rPr sz="1800" b="1">
                <a:solidFill>
                  <a:srgbClr val="475569"/>
                </a:solidFill>
                <a:latin typeface="Segoe UI"/>
              </a:rPr>
              <a:t>Export to Google Sheets</a:t>
            </a:r>
            <a:r>
              <a:rPr sz="1800">
                <a:solidFill>
                  <a:srgbClr val="64748B"/>
                </a:solidFill>
                <a:latin typeface="Segoe UI"/>
              </a:rPr>
              <a:t>  —  one click, with clean styling &amp; a frozen header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Segoe UI"/>
              </a:rPr>
              <a:t>THE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F172A"/>
                </a:solidFill>
                <a:latin typeface="Segoe UI Semibold"/>
              </a:rPr>
              <a:t>Ask the data — in plain English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00584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107899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475569"/>
                </a:solidFill>
                <a:latin typeface="Segoe UI"/>
              </a:rPr>
              <a:t>Chat with your timesheet. Answers are grounded in your real data — accurate, not made 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88919"/>
            <a:ext cx="69494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07791"/>
            <a:ext cx="65836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“What was my most recent commit?”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566159"/>
            <a:ext cx="69494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85031"/>
            <a:ext cx="65836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“Who worked the most hours this week?”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343399"/>
            <a:ext cx="69494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62271"/>
            <a:ext cx="65836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“How much do we bill Acme Corp?”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120639"/>
            <a:ext cx="69494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239511"/>
            <a:ext cx="65836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“Summarize what I did this week.”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2788919"/>
            <a:ext cx="36576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18120" y="2788919"/>
            <a:ext cx="109728" cy="3108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0728" y="2971799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Why it’s accurate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8" y="3447287"/>
            <a:ext cx="3200400" cy="2331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Data is fed to the model sorted newest-first with clear date rules, and filtered by author — so “latest” means latest. Billing comes straight from the rate card.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BUILT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F172A"/>
                </a:solidFill>
                <a:latin typeface="Segoe UI Semibold"/>
              </a:rPr>
              <a:t>A small, focused 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00584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965959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59"/>
            <a:ext cx="109728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167127"/>
            <a:ext cx="3063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Streamlit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624327"/>
            <a:ext cx="3063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the whole web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965959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1688" y="1965959"/>
            <a:ext cx="109728" cy="1234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2167127"/>
            <a:ext cx="3063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Claude AI (Anthropic)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624327"/>
            <a:ext cx="3063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two models: fast + smart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965959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965959"/>
            <a:ext cx="109728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6" y="2167127"/>
            <a:ext cx="3063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gspread + Sheets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2624327"/>
            <a:ext cx="3063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storage / database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28999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428999"/>
            <a:ext cx="109728" cy="1234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3630167"/>
            <a:ext cx="3063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pandas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4087367"/>
            <a:ext cx="3063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data wrangling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61688" y="3428999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61688" y="3428999"/>
            <a:ext cx="109728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54296" y="3630167"/>
            <a:ext cx="3063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git + subprocess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4296" y="4087367"/>
            <a:ext cx="3063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the source 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5008" y="3428999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65008" y="3428999"/>
            <a:ext cx="109728" cy="1234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6" y="3630167"/>
            <a:ext cx="3063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python-dotenv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6" y="4087367"/>
            <a:ext cx="3063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config &amp; secrets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5803D"/>
                </a:solidFill>
                <a:latin typeface="Segoe UI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F172A"/>
                </a:solidFill>
                <a:latin typeface="Segoe UI Semibold"/>
              </a:rPr>
              <a:t>The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005840" cy="4445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965959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285999"/>
            <a:ext cx="35204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5803D"/>
                </a:solidFill>
                <a:latin typeface="Segoe UI Semibold"/>
              </a:rPr>
              <a:t>~1–1.5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108959"/>
            <a:ext cx="2971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64748B"/>
                </a:solidFill>
                <a:latin typeface="Segoe UI"/>
              </a:rPr>
              <a:t>recovered per developer, every week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965959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8" y="2285999"/>
            <a:ext cx="35204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4F46E5"/>
                </a:solidFill>
                <a:latin typeface="Segoe UI Semibold"/>
              </a:rPr>
              <a:t>0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3108959"/>
            <a:ext cx="2971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64748B"/>
                </a:solidFill>
                <a:latin typeface="Segoe UI"/>
              </a:rPr>
              <a:t>spent staring at a blank status box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965959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5008" y="2285999"/>
            <a:ext cx="35204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2563EB"/>
                </a:solidFill>
                <a:latin typeface="Segoe UI Semibold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3108959"/>
            <a:ext cx="2971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64748B"/>
                </a:solidFill>
                <a:latin typeface="Segoe UI"/>
              </a:rPr>
              <a:t>of entries backed by real commits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114799"/>
            <a:ext cx="10881360" cy="2286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100">
                <a:solidFill>
                  <a:srgbClr val="15803D"/>
                </a:solidFill>
                <a:latin typeface="Segoe UI"/>
              </a:rPr>
              <a:t>●  </a:t>
            </a:r>
            <a:r>
              <a:rPr sz="1700" b="1">
                <a:solidFill>
                  <a:srgbClr val="475569"/>
                </a:solidFill>
                <a:latin typeface="Segoe UI"/>
              </a:rPr>
              <a:t>More accurate &amp; consistent reporting</a:t>
            </a:r>
            <a:r>
              <a:rPr sz="1700">
                <a:solidFill>
                  <a:srgbClr val="64748B"/>
                </a:solidFill>
                <a:latin typeface="Segoe UI"/>
              </a:rPr>
              <a:t>  —  for the whole team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100">
                <a:solidFill>
                  <a:srgbClr val="15803D"/>
                </a:solidFill>
                <a:latin typeface="Segoe UI"/>
              </a:rPr>
              <a:t>●  </a:t>
            </a:r>
            <a:r>
              <a:rPr sz="1700" b="1">
                <a:solidFill>
                  <a:srgbClr val="475569"/>
                </a:solidFill>
                <a:latin typeface="Segoe UI"/>
              </a:rPr>
              <a:t>Better data for managers</a:t>
            </a:r>
            <a:r>
              <a:rPr sz="1700">
                <a:solidFill>
                  <a:srgbClr val="64748B"/>
                </a:solidFill>
                <a:latin typeface="Segoe UI"/>
              </a:rPr>
              <a:t>  —  cleaner project tracking and effort visibility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100">
                <a:solidFill>
                  <a:srgbClr val="15803D"/>
                </a:solidFill>
                <a:latin typeface="Segoe UI"/>
              </a:rPr>
              <a:t>●  </a:t>
            </a:r>
            <a:r>
              <a:rPr sz="1700" b="1">
                <a:solidFill>
                  <a:srgbClr val="475569"/>
                </a:solidFill>
                <a:latin typeface="Segoe UI"/>
              </a:rPr>
              <a:t>Removes the most disliked chore</a:t>
            </a:r>
            <a:r>
              <a:rPr sz="1700">
                <a:solidFill>
                  <a:srgbClr val="64748B"/>
                </a:solidFill>
                <a:latin typeface="Segoe UI"/>
              </a:rPr>
              <a:t>  —  so developers focus on real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Segoe UI"/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F172A"/>
                </a:solidFill>
                <a:latin typeface="Segoe UI Semibold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00584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10789920" cy="4526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200">
                <a:solidFill>
                  <a:srgbClr val="4F46E5"/>
                </a:solidFill>
                <a:latin typeface="Segoe UI"/>
              </a:rPr>
              <a:t>●  </a:t>
            </a:r>
            <a:r>
              <a:rPr sz="1800" b="1">
                <a:solidFill>
                  <a:srgbClr val="475569"/>
                </a:solidFill>
                <a:latin typeface="Segoe UI"/>
              </a:rPr>
              <a:t>Pull PRs, branches &amp; ticket references</a:t>
            </a:r>
            <a:r>
              <a:rPr sz="1800">
                <a:solidFill>
                  <a:srgbClr val="64748B"/>
                </a:solidFill>
                <a:latin typeface="Segoe UI"/>
              </a:rPr>
              <a:t>  —  map work to Jira / Azure DevOps tickets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200">
                <a:solidFill>
                  <a:srgbClr val="4F46E5"/>
                </a:solidFill>
                <a:latin typeface="Segoe UI"/>
              </a:rPr>
              <a:t>●  </a:t>
            </a:r>
            <a:r>
              <a:rPr sz="1800" b="1">
                <a:solidFill>
                  <a:srgbClr val="475569"/>
                </a:solidFill>
                <a:latin typeface="Segoe UI"/>
              </a:rPr>
              <a:t>Auto-post standups to Slack / Teams</a:t>
            </a:r>
            <a:r>
              <a:rPr sz="1800">
                <a:solidFill>
                  <a:srgbClr val="64748B"/>
                </a:solidFill>
                <a:latin typeface="Segoe UI"/>
              </a:rPr>
              <a:t>  —  zero copy-paste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200">
                <a:solidFill>
                  <a:srgbClr val="4F46E5"/>
                </a:solidFill>
                <a:latin typeface="Segoe UI"/>
              </a:rPr>
              <a:t>●  </a:t>
            </a:r>
            <a:r>
              <a:rPr sz="1800" b="1">
                <a:solidFill>
                  <a:srgbClr val="475569"/>
                </a:solidFill>
                <a:latin typeface="Segoe UI"/>
              </a:rPr>
              <a:t>More export formats</a:t>
            </a:r>
            <a:r>
              <a:rPr sz="1800">
                <a:solidFill>
                  <a:srgbClr val="64748B"/>
                </a:solidFill>
                <a:latin typeface="Segoe UI"/>
              </a:rPr>
              <a:t>  —  Markdown status, CSV, PDF timesheets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200">
                <a:solidFill>
                  <a:srgbClr val="4F46E5"/>
                </a:solidFill>
                <a:latin typeface="Segoe UI"/>
              </a:rPr>
              <a:t>●  </a:t>
            </a:r>
            <a:r>
              <a:rPr sz="1800" b="1">
                <a:solidFill>
                  <a:srgbClr val="475569"/>
                </a:solidFill>
                <a:latin typeface="Segoe UI"/>
              </a:rPr>
              <a:t>Scheduled generation</a:t>
            </a:r>
            <a:r>
              <a:rPr sz="1800">
                <a:solidFill>
                  <a:srgbClr val="64748B"/>
                </a:solidFill>
                <a:latin typeface="Segoe UI"/>
              </a:rPr>
              <a:t>  —  a daily/weekly draft waiting in your inbox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200">
                <a:solidFill>
                  <a:srgbClr val="4F46E5"/>
                </a:solidFill>
                <a:latin typeface="Segoe UI"/>
              </a:rPr>
              <a:t>●  </a:t>
            </a:r>
            <a:r>
              <a:rPr sz="1800" b="1">
                <a:solidFill>
                  <a:srgbClr val="475569"/>
                </a:solidFill>
                <a:latin typeface="Segoe UI"/>
              </a:rPr>
              <a:t>Team dashboards</a:t>
            </a:r>
            <a:r>
              <a:rPr sz="1800">
                <a:solidFill>
                  <a:srgbClr val="64748B"/>
                </a:solidFill>
                <a:latin typeface="Segoe UI"/>
              </a:rPr>
              <a:t>  —  roll-ups across everyone, not just one developer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>
                <a:solidFill>
                  <a:srgbClr val="FFFFFF"/>
                </a:solidFill>
                <a:latin typeface="Segoe UI Semibold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063240"/>
            <a:ext cx="96012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E0E7FF"/>
                </a:solidFill>
                <a:latin typeface="Segoe UI"/>
              </a:rPr>
              <a:t>Your work is already logged in Git. Let AI write the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C7D2FE"/>
                </a:solidFill>
                <a:latin typeface="Segoe UI"/>
              </a:rPr>
              <a:t>Questions &amp; live demo welcome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bp55994@ubt-uni.net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